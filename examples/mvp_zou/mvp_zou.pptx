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DD4709-71F5-2464-EBF2-BA0284E8A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3853D1-BE7C-3A68-17D4-A5A10691D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CE7B16-556E-330A-84ED-B802695A1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A41F-5E1D-4B08-9376-453926655FAB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50A51F-7FB0-0CCE-3FB9-7D8414A06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69E5AD-F0A0-9B2F-5D07-D9C66B586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5888-E23A-4AA5-A7F6-3D447E07E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384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5A05E2-0655-F62C-32ED-AC616048D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25D25F-2FB0-9D4C-70A9-45BB69922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F69ECE-7C3D-3348-C8B1-C83BB2682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A41F-5E1D-4B08-9376-453926655FAB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A8A052-3399-22AF-D693-64C1232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AF4967-39EE-B4F4-E335-558A615DF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5888-E23A-4AA5-A7F6-3D447E07E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039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1B283D-958F-2922-8E97-3939FE9D0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FE3D37-54D2-9B80-90AA-26EDB79DB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DBFC79-C227-1C89-10F4-D93DD892A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A41F-5E1D-4B08-9376-453926655FAB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84E06A-28AB-9502-336B-52DEC5151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3B55C2-2E99-A7EB-0AC7-1AC48AA11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5888-E23A-4AA5-A7F6-3D447E07E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407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6B9020-0F1E-C7FB-25CB-F50251220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CAC350-D4E6-D013-94CD-9E7A4F2660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832245-119F-E603-4A7F-C694D528B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2FE1E3-6129-5B24-7474-CD48665A8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A41F-5E1D-4B08-9376-453926655FAB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062827-93B7-B59E-02F3-DB7BDA0C5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D7B131-39D7-4CDB-923E-C86A746F1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5888-E23A-4AA5-A7F6-3D447E07E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921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931C46-0CC6-F315-85B5-820B281CF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7A8A16-63C6-09D9-C67B-0C226D840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A1A68A-0599-B81B-85B5-F89C4CD5D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4823429-7507-4E9E-3556-678947BA3E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260D4FD-BE88-42E5-D7B8-0BFDA8950B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F77067B-C1B5-51BC-9668-F15199C6F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A41F-5E1D-4B08-9376-453926655FAB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1036E3D-E299-62DA-CF1C-38B3EEEE9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255C002-85E6-88F3-7321-080F50BE3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5888-E23A-4AA5-A7F6-3D447E07E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688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437306-A8D4-B75E-8BBC-F85176A11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6C2B700-6B47-C837-C208-3AEB6C65B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A41F-5E1D-4B08-9376-453926655FAB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A635118-57DF-ED3D-BF49-2798AA5DF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EDC36E-FCF2-7D8A-00B9-DAFB1C57C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5888-E23A-4AA5-A7F6-3D447E07E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829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30D8849-8A5E-7792-7EA4-872032F1D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A41F-5E1D-4B08-9376-453926655FAB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4AD1DD-640C-5835-A49A-7BB00C39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41761B-0D22-787F-CB9E-A391E2672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5888-E23A-4AA5-A7F6-3D447E07E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029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7BA503-0A5F-640A-5189-E64276704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68AF1C-3A15-AA2F-8513-9F4342CC1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E8AA30-D711-F3A5-A13A-FE4E72935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A1AF57-7A96-E1D7-A109-B61E30267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A41F-5E1D-4B08-9376-453926655FAB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AA7651-A93C-9532-9A36-200B78098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90BA0B-0E5C-80D5-ADCD-BDCFD101D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5888-E23A-4AA5-A7F6-3D447E07E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472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FB79A2-812A-A5FF-3FD7-AEC642C40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0F21F23-005E-CBEF-3870-B6FD6B662B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B4F719-6422-82C0-2C0C-D04A5CECC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929E03-32E6-EC3C-B48C-CB5CAD415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A41F-5E1D-4B08-9376-453926655FAB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A99D4F-E23B-1EF3-9749-5D55ECC94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683CAC-4F6E-EC32-03E0-F5ABD3589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5888-E23A-4AA5-A7F6-3D447E07E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863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3A164-15CA-87C1-A628-95015A89C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BA6599-54A9-E415-BD47-FBD81B908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6F5FEB-43C7-49B2-03C5-65EA7F45F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A41F-5E1D-4B08-9376-453926655FAB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E27103-5D3C-C00D-808C-AE61B744B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276463-39AE-FE7E-A012-48FC88DAD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5888-E23A-4AA5-A7F6-3D447E07E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608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CEC0076-6927-051B-5422-22919C802B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DF8CE26-F97B-A664-B11F-8B7B9841E8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BC9EAA-4D8F-635D-1686-79A31A03B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0A41F-5E1D-4B08-9376-453926655FAB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D40C12-DDEC-E95B-22B2-5DD5C8E15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417D84-79F7-4069-010F-6986F2B50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5888-E23A-4AA5-A7F6-3D447E07E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152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2046B2B-608B-AEF1-9BC4-08C29F62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6EB5CF-CBBE-52D0-3280-71D85C01A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362D5D-C395-4EE6-1463-E9AD42CD8F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0A41F-5E1D-4B08-9376-453926655FAB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C5967F-7571-D4E0-1D58-91D7EAF1EB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96E465-E75B-4C35-B392-7C0E00B594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25888-E23A-4AA5-A7F6-3D447E07E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961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Left">
            <a:extLst>
              <a:ext uri="{FF2B5EF4-FFF2-40B4-BE49-F238E27FC236}">
                <a16:creationId xmlns:a16="http://schemas.microsoft.com/office/drawing/2014/main" id="{51C397AE-8C1E-F121-53AE-4F878B805A3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101600"/>
            <a:ext cx="685800" cy="1498600"/>
          </a:xfrm>
          <a:prstGeom prst="rect">
            <a:avLst/>
          </a:prstGeom>
        </p:spPr>
      </p:pic>
      <p:sp>
        <p:nvSpPr>
          <p:cNvPr id="4" name="CoverSession">
            <a:extLst>
              <a:ext uri="{FF2B5EF4-FFF2-40B4-BE49-F238E27FC236}">
                <a16:creationId xmlns:a16="http://schemas.microsoft.com/office/drawing/2014/main" id="{3FA86DC6-9041-3D06-2D08-30AB7EE72DEA}"/>
              </a:ext>
            </a:extLst>
          </p:cNvPr>
          <p:cNvSpPr txBox="1"/>
          <p:nvPr/>
        </p:nvSpPr>
        <p:spPr>
          <a:xfrm>
            <a:off x="4191000" y="203200"/>
            <a:ext cx="381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3200" b="1">
                <a:solidFill>
                  <a:srgbClr val="000000"/>
                </a:solidFill>
                <a:latin typeface="Calibri" panose="020F0502020204030204" pitchFamily="34" charset="0"/>
              </a:rPr>
              <a:t>RTu1A-3</a:t>
            </a:r>
            <a:endParaRPr lang="zh-CN" altLang="en-US" sz="32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overTitle">
            <a:extLst>
              <a:ext uri="{FF2B5EF4-FFF2-40B4-BE49-F238E27FC236}">
                <a16:creationId xmlns:a16="http://schemas.microsoft.com/office/drawing/2014/main" id="{841938A4-BCD4-63E1-0B87-7E8565D0ABE8}"/>
              </a:ext>
            </a:extLst>
          </p:cNvPr>
          <p:cNvSpPr txBox="1"/>
          <p:nvPr/>
        </p:nvSpPr>
        <p:spPr>
          <a:xfrm>
            <a:off x="1016000" y="1524000"/>
            <a:ext cx="10160000" cy="19389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4000" b="1">
                <a:solidFill>
                  <a:srgbClr val="000000"/>
                </a:solidFill>
                <a:latin typeface="Calibri" panose="020F0502020204030204" pitchFamily="34" charset="0"/>
              </a:rPr>
              <a:t>A Capacitor-Assisting Triple-Winding Transformer LNA with 0.8-1.5 dB NF and 6-12 GHz BW in 130 nm SOI CMOS</a:t>
            </a:r>
            <a:endParaRPr lang="zh-CN" altLang="en-US" sz="4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CoverAuthors">
            <a:extLst>
              <a:ext uri="{FF2B5EF4-FFF2-40B4-BE49-F238E27FC236}">
                <a16:creationId xmlns:a16="http://schemas.microsoft.com/office/drawing/2014/main" id="{31639594-C527-5272-D7C8-520E76C050B5}"/>
              </a:ext>
            </a:extLst>
          </p:cNvPr>
          <p:cNvSpPr txBox="1"/>
          <p:nvPr/>
        </p:nvSpPr>
        <p:spPr>
          <a:xfrm>
            <a:off x="1905000" y="4064000"/>
            <a:ext cx="838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400" b="1">
                <a:solidFill>
                  <a:srgbClr val="000000"/>
                </a:solidFill>
                <a:latin typeface="Franklin Gothic Book" panose="020B0503020102020204" pitchFamily="34" charset="0"/>
              </a:rPr>
              <a:t>T. Zou  (</a:t>
            </a:r>
            <a:r>
              <a:rPr lang="zh-CN" altLang="en-US" sz="2400" b="1">
                <a:solidFill>
                  <a:srgbClr val="000000"/>
                </a:solidFill>
                <a:latin typeface="Franklin Gothic Book" panose="020B0503020102020204" pitchFamily="34" charset="0"/>
              </a:rPr>
              <a:t>作者名单见论文首页 </a:t>
            </a:r>
            <a:r>
              <a:rPr lang="en-US" altLang="zh-CN" sz="2400" b="1">
                <a:solidFill>
                  <a:srgbClr val="000000"/>
                </a:solidFill>
                <a:latin typeface="Franklin Gothic Book" panose="020B0503020102020204" pitchFamily="34" charset="0"/>
              </a:rPr>
              <a:t>- MVP </a:t>
            </a:r>
            <a:r>
              <a:rPr lang="zh-CN" altLang="en-US" sz="2400" b="1">
                <a:solidFill>
                  <a:srgbClr val="000000"/>
                </a:solidFill>
                <a:latin typeface="Franklin Gothic Book" panose="020B0503020102020204" pitchFamily="34" charset="0"/>
              </a:rPr>
              <a:t>占位</a:t>
            </a:r>
            <a:r>
              <a:rPr lang="en-US" altLang="zh-CN" sz="2400" b="1">
                <a:solidFill>
                  <a:srgbClr val="000000"/>
                </a:solidFill>
                <a:latin typeface="Franklin Gothic Book" panose="020B0503020102020204" pitchFamily="34" charset="0"/>
              </a:rPr>
              <a:t>)</a:t>
            </a:r>
            <a:endParaRPr lang="zh-CN" altLang="en-US" sz="2400" b="1">
              <a:solidFill>
                <a:srgbClr val="000000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7" name="CoverAffil">
            <a:extLst>
              <a:ext uri="{FF2B5EF4-FFF2-40B4-BE49-F238E27FC236}">
                <a16:creationId xmlns:a16="http://schemas.microsoft.com/office/drawing/2014/main" id="{ADC03DB0-C6C9-A205-1E10-96926FC19F14}"/>
              </a:ext>
            </a:extLst>
          </p:cNvPr>
          <p:cNvSpPr txBox="1"/>
          <p:nvPr/>
        </p:nvSpPr>
        <p:spPr>
          <a:xfrm>
            <a:off x="1905000" y="4699000"/>
            <a:ext cx="8382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rgbClr val="000000"/>
                </a:solidFill>
                <a:latin typeface="Franklin Gothic Book" panose="020B0503020102020204" pitchFamily="34" charset="0"/>
              </a:rPr>
              <a:t>Affiliation: see paper first page (</a:t>
            </a:r>
            <a:r>
              <a:rPr lang="zh-CN" altLang="en-US" sz="2000" b="1">
                <a:solidFill>
                  <a:srgbClr val="000000"/>
                </a:solidFill>
                <a:latin typeface="Franklin Gothic Book" panose="020B0503020102020204" pitchFamily="34" charset="0"/>
              </a:rPr>
              <a:t>待补充</a:t>
            </a:r>
            <a:r>
              <a:rPr lang="en-US" altLang="zh-CN" sz="2000" b="1">
                <a:solidFill>
                  <a:srgbClr val="000000"/>
                </a:solidFill>
                <a:latin typeface="Franklin Gothic Book" panose="020B0503020102020204" pitchFamily="34" charset="0"/>
              </a:rPr>
              <a:t>)</a:t>
            </a:r>
            <a:endParaRPr lang="zh-CN" altLang="en-US" sz="2000" b="1">
              <a:solidFill>
                <a:srgbClr val="000000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9" name="FooterBand">
            <a:extLst>
              <a:ext uri="{FF2B5EF4-FFF2-40B4-BE49-F238E27FC236}">
                <a16:creationId xmlns:a16="http://schemas.microsoft.com/office/drawing/2014/main" id="{C05C1E4B-E212-BDB7-D5BB-9A35FCF2F5A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5400"/>
            <a:ext cx="12192000" cy="482600"/>
          </a:xfrm>
          <a:prstGeom prst="rect">
            <a:avLst/>
          </a:prstGeom>
        </p:spPr>
      </p:pic>
      <p:sp>
        <p:nvSpPr>
          <p:cNvPr id="10" name="PageNo">
            <a:extLst>
              <a:ext uri="{FF2B5EF4-FFF2-40B4-BE49-F238E27FC236}">
                <a16:creationId xmlns:a16="http://schemas.microsoft.com/office/drawing/2014/main" id="{D9D60A50-BC13-487F-6C9F-A8E72D97CDB2}"/>
              </a:ext>
            </a:extLst>
          </p:cNvPr>
          <p:cNvSpPr txBox="1"/>
          <p:nvPr/>
        </p:nvSpPr>
        <p:spPr>
          <a:xfrm>
            <a:off x="5588000" y="6426200"/>
            <a:ext cx="1016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0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SessionId">
            <a:extLst>
              <a:ext uri="{FF2B5EF4-FFF2-40B4-BE49-F238E27FC236}">
                <a16:creationId xmlns:a16="http://schemas.microsoft.com/office/drawing/2014/main" id="{F34007C0-603D-825D-5E6D-DD3B7DAB542B}"/>
              </a:ext>
            </a:extLst>
          </p:cNvPr>
          <p:cNvSpPr txBox="1"/>
          <p:nvPr/>
        </p:nvSpPr>
        <p:spPr>
          <a:xfrm>
            <a:off x="9906000" y="6451600"/>
            <a:ext cx="215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400">
                <a:solidFill>
                  <a:srgbClr val="000000"/>
                </a:solidFill>
                <a:latin typeface="Calibri" panose="020F0502020204030204" pitchFamily="34" charset="0"/>
              </a:rPr>
              <a:t>RTu1A-3</a:t>
            </a:r>
            <a:endParaRPr lang="zh-CN" altLang="en-US" sz="14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776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Left">
            <a:extLst>
              <a:ext uri="{FF2B5EF4-FFF2-40B4-BE49-F238E27FC236}">
                <a16:creationId xmlns:a16="http://schemas.microsoft.com/office/drawing/2014/main" id="{4CA0A716-2BF0-4374-A825-679C8CA2B81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101600"/>
            <a:ext cx="685800" cy="14986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1BB74906-25FE-4328-162B-42850EBA2FA8}"/>
              </a:ext>
            </a:extLst>
          </p:cNvPr>
          <p:cNvSpPr txBox="1"/>
          <p:nvPr/>
        </p:nvSpPr>
        <p:spPr>
          <a:xfrm>
            <a:off x="508000" y="114300"/>
            <a:ext cx="11176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4400">
                <a:solidFill>
                  <a:srgbClr val="000000"/>
                </a:solidFill>
                <a:latin typeface="Franklin Gothic Book" panose="020B0503020102020204" pitchFamily="34" charset="0"/>
              </a:rPr>
              <a:t>Outline</a:t>
            </a:r>
            <a:endParaRPr lang="zh-CN" altLang="en-US" sz="4400">
              <a:solidFill>
                <a:srgbClr val="000000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" name="OutlineBullets">
            <a:extLst>
              <a:ext uri="{FF2B5EF4-FFF2-40B4-BE49-F238E27FC236}">
                <a16:creationId xmlns:a16="http://schemas.microsoft.com/office/drawing/2014/main" id="{80BB8366-CB39-FC10-D232-A6CE0F664C0A}"/>
              </a:ext>
            </a:extLst>
          </p:cNvPr>
          <p:cNvSpPr txBox="1"/>
          <p:nvPr/>
        </p:nvSpPr>
        <p:spPr>
          <a:xfrm>
            <a:off x="927100" y="1778000"/>
            <a:ext cx="8890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200">
                <a:solidFill>
                  <a:srgbClr val="000000"/>
                </a:solidFill>
                <a:latin typeface="Franklin Gothic Book" panose="020B0503020102020204" pitchFamily="34" charset="0"/>
              </a:rPr>
              <a:t>•  Background &amp; Challenges</a:t>
            </a:r>
            <a:br>
              <a:rPr lang="en-US" altLang="zh-CN" sz="3200">
                <a:solidFill>
                  <a:srgbClr val="000000"/>
                </a:solidFill>
                <a:latin typeface="Franklin Gothic Book" panose="020B0503020102020204" pitchFamily="34" charset="0"/>
              </a:rPr>
            </a:br>
            <a:r>
              <a:rPr lang="en-US" altLang="zh-CN" sz="3200">
                <a:solidFill>
                  <a:srgbClr val="000000"/>
                </a:solidFill>
                <a:latin typeface="Franklin Gothic Book" panose="020B0503020102020204" pitchFamily="34" charset="0"/>
              </a:rPr>
              <a:t>•  Proposed Triple-Winding Transformer LNA</a:t>
            </a:r>
            <a:br>
              <a:rPr lang="en-US" altLang="zh-CN" sz="3200">
                <a:solidFill>
                  <a:srgbClr val="000000"/>
                </a:solidFill>
                <a:latin typeface="Franklin Gothic Book" panose="020B0503020102020204" pitchFamily="34" charset="0"/>
              </a:rPr>
            </a:br>
            <a:r>
              <a:rPr lang="en-US" altLang="zh-CN" sz="3200">
                <a:solidFill>
                  <a:srgbClr val="000000"/>
                </a:solidFill>
                <a:latin typeface="Franklin Gothic Book" panose="020B0503020102020204" pitchFamily="34" charset="0"/>
              </a:rPr>
              <a:t>•  Measurement Results</a:t>
            </a:r>
            <a:endParaRPr lang="zh-CN" altLang="en-US" sz="3200">
              <a:solidFill>
                <a:srgbClr val="000000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7" name="FooterBand">
            <a:extLst>
              <a:ext uri="{FF2B5EF4-FFF2-40B4-BE49-F238E27FC236}">
                <a16:creationId xmlns:a16="http://schemas.microsoft.com/office/drawing/2014/main" id="{A9094532-E6F6-E51E-5380-5C4A3C3D62C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5400"/>
            <a:ext cx="12192000" cy="482600"/>
          </a:xfrm>
          <a:prstGeom prst="rect">
            <a:avLst/>
          </a:prstGeom>
        </p:spPr>
      </p:pic>
      <p:sp>
        <p:nvSpPr>
          <p:cNvPr id="8" name="PageNo">
            <a:extLst>
              <a:ext uri="{FF2B5EF4-FFF2-40B4-BE49-F238E27FC236}">
                <a16:creationId xmlns:a16="http://schemas.microsoft.com/office/drawing/2014/main" id="{C23A6888-9399-7732-5D60-DECAFF7D43A8}"/>
              </a:ext>
            </a:extLst>
          </p:cNvPr>
          <p:cNvSpPr txBox="1"/>
          <p:nvPr/>
        </p:nvSpPr>
        <p:spPr>
          <a:xfrm>
            <a:off x="5588000" y="6426200"/>
            <a:ext cx="1016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000">
                <a:solidFill>
                  <a:srgbClr val="000000"/>
                </a:solidFill>
                <a:latin typeface="Calibri" panose="020F0502020204030204" pitchFamily="34" charset="0"/>
              </a:rPr>
              <a:t>1</a:t>
            </a: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SessionId">
            <a:extLst>
              <a:ext uri="{FF2B5EF4-FFF2-40B4-BE49-F238E27FC236}">
                <a16:creationId xmlns:a16="http://schemas.microsoft.com/office/drawing/2014/main" id="{19D62491-AA7A-3154-861E-6ABA876CA088}"/>
              </a:ext>
            </a:extLst>
          </p:cNvPr>
          <p:cNvSpPr txBox="1"/>
          <p:nvPr/>
        </p:nvSpPr>
        <p:spPr>
          <a:xfrm>
            <a:off x="9906000" y="6451600"/>
            <a:ext cx="215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400">
                <a:solidFill>
                  <a:srgbClr val="000000"/>
                </a:solidFill>
                <a:latin typeface="Calibri" panose="020F0502020204030204" pitchFamily="34" charset="0"/>
              </a:rPr>
              <a:t>RTu1A-3</a:t>
            </a:r>
            <a:endParaRPr lang="zh-CN" altLang="en-US" sz="14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857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Left">
            <a:extLst>
              <a:ext uri="{FF2B5EF4-FFF2-40B4-BE49-F238E27FC236}">
                <a16:creationId xmlns:a16="http://schemas.microsoft.com/office/drawing/2014/main" id="{19F1F304-ABF4-6BC3-2907-2C84AB06F6E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" y="101600"/>
            <a:ext cx="685800" cy="14986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77D5FF-517C-8FF6-F10F-4707D93D334F}"/>
              </a:ext>
            </a:extLst>
          </p:cNvPr>
          <p:cNvSpPr txBox="1"/>
          <p:nvPr/>
        </p:nvSpPr>
        <p:spPr>
          <a:xfrm>
            <a:off x="508000" y="114300"/>
            <a:ext cx="11176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4400">
                <a:solidFill>
                  <a:srgbClr val="000000"/>
                </a:solidFill>
                <a:latin typeface="Franklin Gothic Book" panose="020B0503020102020204" pitchFamily="34" charset="0"/>
              </a:rPr>
              <a:t>Motivation</a:t>
            </a:r>
            <a:endParaRPr lang="zh-CN" altLang="en-US" sz="4400">
              <a:solidFill>
                <a:srgbClr val="000000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" name="LeadIn">
            <a:extLst>
              <a:ext uri="{FF2B5EF4-FFF2-40B4-BE49-F238E27FC236}">
                <a16:creationId xmlns:a16="http://schemas.microsoft.com/office/drawing/2014/main" id="{E13127CF-0A9A-C41A-4992-1EBA460029F3}"/>
              </a:ext>
            </a:extLst>
          </p:cNvPr>
          <p:cNvSpPr txBox="1"/>
          <p:nvPr/>
        </p:nvSpPr>
        <p:spPr>
          <a:xfrm>
            <a:off x="927100" y="1270000"/>
            <a:ext cx="762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200" b="1" i="1">
                <a:solidFill>
                  <a:srgbClr val="000000"/>
                </a:solidFill>
                <a:latin typeface="Franklin Gothic Book" panose="020B0503020102020204" pitchFamily="34" charset="0"/>
              </a:rPr>
              <a:t>Wideband LNA trade-off:</a:t>
            </a:r>
            <a:endParaRPr lang="zh-CN" altLang="en-US" sz="3200" b="1" i="1">
              <a:solidFill>
                <a:srgbClr val="000000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6" name="L1Bullets">
            <a:extLst>
              <a:ext uri="{FF2B5EF4-FFF2-40B4-BE49-F238E27FC236}">
                <a16:creationId xmlns:a16="http://schemas.microsoft.com/office/drawing/2014/main" id="{42B7800F-74E2-B030-CE85-E338CB706052}"/>
              </a:ext>
            </a:extLst>
          </p:cNvPr>
          <p:cNvSpPr txBox="1"/>
          <p:nvPr/>
        </p:nvSpPr>
        <p:spPr>
          <a:xfrm>
            <a:off x="927100" y="1968500"/>
            <a:ext cx="9906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200">
                <a:solidFill>
                  <a:srgbClr val="000000"/>
                </a:solidFill>
                <a:latin typeface="Franklin Gothic Book" panose="020B0503020102020204" pitchFamily="34" charset="0"/>
              </a:rPr>
              <a:t>•  6-12 GHz bandwidth with 0.8-1.5 dB NF</a:t>
            </a:r>
            <a:br>
              <a:rPr lang="en-US" altLang="zh-CN" sz="3200">
                <a:solidFill>
                  <a:srgbClr val="000000"/>
                </a:solidFill>
                <a:latin typeface="Franklin Gothic Book" panose="020B0503020102020204" pitchFamily="34" charset="0"/>
              </a:rPr>
            </a:br>
            <a:r>
              <a:rPr lang="en-US" altLang="zh-CN" sz="3200">
                <a:solidFill>
                  <a:srgbClr val="000000"/>
                </a:solidFill>
                <a:latin typeface="Franklin Gothic Book" panose="020B0503020102020204" pitchFamily="34" charset="0"/>
              </a:rPr>
              <a:t>•  Transformer-based input matching, ESD-robust</a:t>
            </a:r>
            <a:br>
              <a:rPr lang="en-US" altLang="zh-CN" sz="3200">
                <a:solidFill>
                  <a:srgbClr val="000000"/>
                </a:solidFill>
                <a:latin typeface="Franklin Gothic Book" panose="020B0503020102020204" pitchFamily="34" charset="0"/>
              </a:rPr>
            </a:br>
            <a:r>
              <a:rPr lang="en-US" altLang="zh-CN" sz="3200">
                <a:solidFill>
                  <a:srgbClr val="000000"/>
                </a:solidFill>
                <a:latin typeface="Franklin Gothic Book" panose="020B0503020102020204" pitchFamily="34" charset="0"/>
              </a:rPr>
              <a:t>•  Challenge: BW-NF-linearity co-design in SOI CMOS</a:t>
            </a:r>
            <a:endParaRPr lang="zh-CN" altLang="en-US" sz="3200">
              <a:solidFill>
                <a:srgbClr val="000000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7" name="FormulaCaption">
            <a:extLst>
              <a:ext uri="{FF2B5EF4-FFF2-40B4-BE49-F238E27FC236}">
                <a16:creationId xmlns:a16="http://schemas.microsoft.com/office/drawing/2014/main" id="{7CAF54D6-37F4-88EF-68C0-9EDCC9F519F2}"/>
              </a:ext>
            </a:extLst>
          </p:cNvPr>
          <p:cNvSpPr txBox="1"/>
          <p:nvPr/>
        </p:nvSpPr>
        <p:spPr>
          <a:xfrm>
            <a:off x="927100" y="4064000"/>
            <a:ext cx="6350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000">
                <a:solidFill>
                  <a:srgbClr val="000000"/>
                </a:solidFill>
                <a:latin typeface="Franklin Gothic Book" panose="020B0503020102020204" pitchFamily="34" charset="0"/>
              </a:rPr>
              <a:t>Noise factor definition (textbook):</a:t>
            </a:r>
            <a:endParaRPr lang="zh-CN" altLang="en-US" sz="2000">
              <a:solidFill>
                <a:srgbClr val="000000"/>
              </a:solidFill>
              <a:latin typeface="Franklin Gothic Book" panose="020B0503020102020204" pitchFamily="34" charset="0"/>
            </a:endParaRPr>
          </a:p>
        </p:txBody>
      </p:sp>
      <p:pic>
        <p:nvPicPr>
          <p:cNvPr id="9" name="FooterBand">
            <a:extLst>
              <a:ext uri="{FF2B5EF4-FFF2-40B4-BE49-F238E27FC236}">
                <a16:creationId xmlns:a16="http://schemas.microsoft.com/office/drawing/2014/main" id="{81192228-3AF1-7A71-56BD-7A0D989CFA2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75400"/>
            <a:ext cx="12192000" cy="482600"/>
          </a:xfrm>
          <a:prstGeom prst="rect">
            <a:avLst/>
          </a:prstGeom>
        </p:spPr>
      </p:pic>
      <p:sp>
        <p:nvSpPr>
          <p:cNvPr id="10" name="PageNo">
            <a:extLst>
              <a:ext uri="{FF2B5EF4-FFF2-40B4-BE49-F238E27FC236}">
                <a16:creationId xmlns:a16="http://schemas.microsoft.com/office/drawing/2014/main" id="{900901E0-3396-16E3-F3F5-001C914C356B}"/>
              </a:ext>
            </a:extLst>
          </p:cNvPr>
          <p:cNvSpPr txBox="1"/>
          <p:nvPr/>
        </p:nvSpPr>
        <p:spPr>
          <a:xfrm>
            <a:off x="5588000" y="6426200"/>
            <a:ext cx="1016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00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SessionId">
            <a:extLst>
              <a:ext uri="{FF2B5EF4-FFF2-40B4-BE49-F238E27FC236}">
                <a16:creationId xmlns:a16="http://schemas.microsoft.com/office/drawing/2014/main" id="{CCFFE83B-817A-9D50-F85B-ABBB14CDFA5E}"/>
              </a:ext>
            </a:extLst>
          </p:cNvPr>
          <p:cNvSpPr txBox="1"/>
          <p:nvPr/>
        </p:nvSpPr>
        <p:spPr>
          <a:xfrm>
            <a:off x="9906000" y="6451600"/>
            <a:ext cx="2159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1400">
                <a:solidFill>
                  <a:srgbClr val="000000"/>
                </a:solidFill>
                <a:latin typeface="Calibri" panose="020F0502020204030204" pitchFamily="34" charset="0"/>
              </a:rPr>
              <a:t>RTu1A-3</a:t>
            </a:r>
            <a:endParaRPr lang="zh-CN" altLang="en-US" sz="14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Equation 1"/>
          <p:cNvSpPr/>
          <p:nvPr/>
        </p:nvSpPr>
        <p:spPr>
          <a:xfrm>
            <a:off x="2540000" y="4699000"/>
            <a:ext cx="7112000" cy="1016000"/>
          </a:xfrm>
          <a:prstGeom prst="rect">
            <a:avLst/>
          </a:prstGeom>
        </p:spPr>
        <p:txBody>
          <a:bodyPr/>
          <a:lstStyle/>
          <a:p>
            <a14:m xmlns:a14="http://schemas.microsoft.com/office/drawing/2010/main">
              <m:oMathPara xmlns:m="http://schemas.openxmlformats.org/officeDocument/2006/math">
                <m:oMath>
                  <m:r>
                    <a:rPr lang="en-US" i="1" sz="2400">
                      <a:latin typeface="Cambria Math"/>
                    </a:rPr>
                    <m:t>F</m:t>
                  </m:r>
                  <m:r>
                    <a:rPr lang="en-US" i="0" sz="2400">
                      <a:latin typeface="Cambria Math"/>
                    </a:rPr>
                    <m:t>=</m:t>
                  </m:r>
                  <m:f>
                    <m:num>
                      <m:sSub>
                        <m:e>
                          <m:r>
                            <a:rPr lang="en-US" i="1" sz="2400"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i="1" sz="2400">
                              <a:latin typeface="Cambria Math"/>
                            </a:rPr>
                            <m:t>i</m:t>
                          </m:r>
                        </m:sub>
                      </m:sSub>
                    </m:num>
                    <m:den>
                      <m:sSub>
                        <m:e>
                          <m:r>
                            <a:rPr lang="en-US" i="1" sz="2400">
                              <a:latin typeface="Cambria Math"/>
                            </a:rPr>
                            <m:t>S</m:t>
                          </m:r>
                        </m:e>
                        <m:sub>
                          <m:r>
                            <a:rPr lang="en-US" i="1" sz="2400">
                              <a:latin typeface="Cambria Math"/>
                            </a:rPr>
                            <m:t>o</m:t>
                          </m:r>
                        </m:sub>
                      </m:sSub>
                    </m:den>
                  </m:f>
                  <m:r>
                    <a:rPr lang="en-US" i="0" sz="2400">
                      <a:latin typeface="Cambria Math"/>
                    </a:rPr>
                    <m:t>=</m:t>
                  </m:r>
                  <m:f>
                    <m:num>
                      <m:r>
                        <a:rPr lang="en-US" i="0" sz="2400">
                          <a:latin typeface="Cambria Math"/>
                        </a:rPr>
                        <m:t>1</m:t>
                      </m:r>
                    </m:num>
                    <m:den>
                      <m:sSub>
                        <m:e>
                          <m:r>
                            <a:rPr lang="en-US" i="1" sz="2400">
                              <a:latin typeface="Cambria Math"/>
                            </a:rPr>
                            <m:t>G</m:t>
                          </m:r>
                        </m:e>
                        <m:sub>
                          <m:r>
                            <a:rPr lang="en-US" i="1" sz="2400">
                              <a:latin typeface="Cambria Math"/>
                            </a:rPr>
                            <m:t>t</m:t>
                          </m:r>
                        </m:sub>
                      </m:sSub>
                    </m:den>
                  </m:f>
                  <m:r>
                    <a:rPr lang="en-US" i="0" sz="2400">
                      <a:latin typeface="Cambria Math"/>
                    </a:rPr>
                    <m:t>,</m:t>
                  </m:r>
                  <m:r>
                    <a:rPr lang="en-US" i="0" sz="2400">
                      <a:latin typeface="Cambria Math"/>
                    </a:rPr>
                    <m:t>  </m:t>
                  </m:r>
                  <m:r>
                    <a:rPr lang="en-US" i="0" sz="2400">
                      <a:latin typeface="Cambria Math"/>
                    </a:rPr>
                    <m:t>NF</m:t>
                  </m:r>
                  <m:r>
                    <a:rPr lang="en-US" i="0" sz="2400">
                      <a:latin typeface="Cambria Math"/>
                    </a:rPr>
                    <m:t>=</m:t>
                  </m:r>
                  <m:r>
                    <a:rPr lang="en-US" i="0" sz="2400">
                      <a:latin typeface="Cambria Math"/>
                    </a:rPr>
                    <m:t>10</m:t>
                  </m:r>
                  <m:sSub>
                    <m:e>
                      <m:r>
                        <a:rPr lang="en-US" i="0" sz="2400">
                          <a:latin typeface="Cambria Math"/>
                        </a:rPr>
                        <m:t>log</m:t>
                      </m:r>
                    </m:e>
                    <m:sub>
                      <m:r>
                        <a:rPr lang="en-US" i="0" sz="2400">
                          <a:latin typeface="Cambria Math"/>
                        </a:rPr>
                        <m:t>10</m:t>
                      </m:r>
                    </m:sub>
                  </m:sSub>
                  <m:r>
                    <a:rPr lang="en-US" i="1" sz="2400">
                      <a:latin typeface="Cambria Math"/>
                    </a:rPr>
                    <m:t>F</m:t>
                  </m:r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645160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</Words>
  <Application>Microsoft Office PowerPoint</Application>
  <PresentationFormat>自定义</PresentationFormat>
  <Paragraphs>16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Arial</vt:lpstr>
      <vt:lpstr>Calibri</vt:lpstr>
      <vt:lpstr>Franklin Gothic Book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磊 王</dc:creator>
  <cp:lastModifiedBy>磊 王</cp:lastModifiedBy>
  <cp:revision>1</cp:revision>
  <dcterms:created xsi:type="dcterms:W3CDTF">2026-09-15T02:15:04Z</dcterms:created>
  <dcterms:modified xsi:type="dcterms:W3CDTF">2026-09-15T02:15:04Z</dcterms:modified>
</cp:coreProperties>
</file>