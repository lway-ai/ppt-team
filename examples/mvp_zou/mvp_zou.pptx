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2C7AB1-5C15-F50D-A265-905A9E2159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5DFD1263-2AB0-0FB3-C223-BF8D76B759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BF7C4C2-6BAE-D20C-0E07-B486EA70A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606C5C-8A8A-3F12-A75B-8920FD45B0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7CF3F2B-A5C5-EBF9-AFB4-D87912E96B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4218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42D87B3-EE1E-D85D-EB90-D618E15EB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41489C-3EDE-C2AA-ACBE-14FBFE1F27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0640947-9937-4731-F44F-0567F66E3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254052-EE55-1433-CF50-4D64FDB03B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A2D7BBA-7771-B764-AF3F-92259EF15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227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FF47AF-D0F6-C687-6E65-C51C2536A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04526D0-C298-FB58-38F5-0970B840FD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8961FB8-3B15-D53A-4918-89D024FC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2C5184E-3565-51A6-0B73-F0BF4A6C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6D3D221-D86F-B304-3DD1-EE2487C3D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41308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5F610-7717-C2B6-2002-0C310FFC7D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FD0238-6891-C15F-639B-6A5C01B374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048B407-6B81-CC9A-7515-28C347FAB9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4BF5D5C-51BC-7879-5809-FD5BA5C31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45DE035-98A7-8430-9E6D-5673877A8D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5125F8-1E2A-5404-4690-AB648483D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667478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2B2FE7C-C7D9-D471-CF3A-CF2DDDAA60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8339919-8FF9-F77E-7F33-BB17D178D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CB2171-7C74-E2F7-3179-710653CA8D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BA51404-ACAB-7E77-F122-DFF44E3EE9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4F44F140-D460-D3DA-7A86-1833A50ECA6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5A7AE25C-80AF-7627-428F-0C0AD1FF3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E7B490F-2607-7D36-150D-A937F0B6FC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B07EA93-412C-89F5-640F-26E86EDA72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5376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642882-00B4-E517-F0A1-7D6A0F2C0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DA61005-EDF0-8A8E-80BD-B1006656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EB0EC40-5B29-E0CF-533C-808B51A98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2663740-B950-B5A8-2827-91E4B5DA1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42894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9911621-5198-25F7-09BE-43882CCA1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6C1F4B3-CD4F-04F1-F608-D76011C23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6B7C49E-66BC-5407-BDF7-A22CE4B1A7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97550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7C18519-91BF-DBFA-6481-0D853AA86F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F297308-D45D-74BF-222A-099F1E5B81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1C8F03-37D3-6FC9-45DB-D89DAAD50A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9627DD2-597B-6052-A3DD-6160C82C5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51C97E2-4C89-E1BC-8FEC-5DA7ED7802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56D7303-414B-50D4-4204-212AB8B4F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92869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DB228C-227B-8601-E41F-09E46B5792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E777EA4E-7E3E-928C-92EB-2579C563DB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2F4738E-6F65-9B03-6F0A-46072AD1DD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F810EE2-04BD-9ABE-048E-A1FB85AF2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F4E2137-C049-DBF6-2FAF-803BB36173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EFA5C62-AA2C-A4AD-2D15-E11AF5811A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27831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3E31C8-B670-256D-43CA-9E8DC943F1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86BC4D5-5804-C38A-8B7F-D29C545D66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8551E18-F346-1F00-C5A3-F9F430F158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D6D4FE-EF47-2B68-44F3-5048B32BC0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F2CB862-0DD8-BDD0-21B8-E24DC25A12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79408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D3984BA1-D28F-0B2D-FE19-5D217086F2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7AC1BE4-431D-9696-2C05-BCE61130D9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5959173-D3CE-0C04-93C4-8A1A02FC3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4C0C748-0799-8B88-D236-C6AF7676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870C26E-CEAE-6886-EE3C-2676745B8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6220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9AD014D-E696-CD91-7D41-2B15CB8B7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E164C04-2E9D-37A6-4F56-DA9737B777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0CF4072-44C5-1AF4-2379-E5B146D388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A59CA5-E603-46AA-B66C-16837A232DBA}" type="datetimeFigureOut">
              <a:rPr lang="zh-CN" altLang="en-US" smtClean="0"/>
              <a:t>2026/9/17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BEB8499-D37B-A712-2F24-671BF9F06B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39D8653-FFFB-D654-35A5-70CCE950F0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AFB413-F331-4B80-9467-94C982ED185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53693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Left">
            <a:extLst>
              <a:ext uri="{FF2B5EF4-FFF2-40B4-BE49-F238E27FC236}">
                <a16:creationId xmlns:a16="http://schemas.microsoft.com/office/drawing/2014/main" id="{7215CEAB-C7CA-6AC7-38B9-A1DE5A74C6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01600"/>
            <a:ext cx="685800" cy="1498600"/>
          </a:xfrm>
          <a:prstGeom prst="rect">
            <a:avLst/>
          </a:prstGeom>
        </p:spPr>
      </p:pic>
      <p:sp>
        <p:nvSpPr>
          <p:cNvPr id="4" name="CoverSession">
            <a:extLst>
              <a:ext uri="{FF2B5EF4-FFF2-40B4-BE49-F238E27FC236}">
                <a16:creationId xmlns:a16="http://schemas.microsoft.com/office/drawing/2014/main" id="{5167009F-BDA3-5A46-1125-E219E5090B5A}"/>
              </a:ext>
            </a:extLst>
          </p:cNvPr>
          <p:cNvSpPr txBox="1"/>
          <p:nvPr/>
        </p:nvSpPr>
        <p:spPr>
          <a:xfrm>
            <a:off x="4191000" y="203200"/>
            <a:ext cx="3810000" cy="6317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768"/>
              </a:spcAft>
            </a:pPr>
            <a:r>
              <a:rPr lang="en-US" altLang="zh-CN" sz="32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RTu1A-3</a:t>
            </a:r>
            <a:endParaRPr lang="zh-CN" altLang="en-US" sz="3200" b="1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5" name="CoverTitle">
            <a:extLst>
              <a:ext uri="{FF2B5EF4-FFF2-40B4-BE49-F238E27FC236}">
                <a16:creationId xmlns:a16="http://schemas.microsoft.com/office/drawing/2014/main" id="{1F023869-6D19-3201-B258-5C03E15C07F9}"/>
              </a:ext>
            </a:extLst>
          </p:cNvPr>
          <p:cNvSpPr txBox="1"/>
          <p:nvPr/>
        </p:nvSpPr>
        <p:spPr>
          <a:xfrm>
            <a:off x="1016000" y="1524000"/>
            <a:ext cx="10160000" cy="2243884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960"/>
              </a:spcAft>
            </a:pPr>
            <a:r>
              <a:rPr lang="en-US" altLang="zh-CN" sz="40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A Capacitor-Assisting Triple-Winding Transformer LNA with 0.8-1.5 dB NF and 6-12 GHz BW in 130 nm SOI CMOS</a:t>
            </a:r>
            <a:endParaRPr lang="zh-CN" altLang="en-US" sz="4000" b="1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" name="CoverAuthors">
            <a:extLst>
              <a:ext uri="{FF2B5EF4-FFF2-40B4-BE49-F238E27FC236}">
                <a16:creationId xmlns:a16="http://schemas.microsoft.com/office/drawing/2014/main" id="{3E69841F-7329-5FDE-E983-B695056DBFC1}"/>
              </a:ext>
            </a:extLst>
          </p:cNvPr>
          <p:cNvSpPr txBox="1"/>
          <p:nvPr/>
        </p:nvSpPr>
        <p:spPr>
          <a:xfrm>
            <a:off x="1905000" y="4064000"/>
            <a:ext cx="8382000" cy="497765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576"/>
              </a:spcAft>
            </a:pPr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T. Zou  (</a:t>
            </a:r>
            <a:r>
              <a:rPr lang="zh-CN" altLang="en-US" sz="24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作者名单见论文首页 </a:t>
            </a:r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- MVP </a:t>
            </a:r>
            <a:r>
              <a:rPr lang="zh-CN" altLang="en-US" sz="24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占位</a:t>
            </a:r>
            <a:r>
              <a:rPr lang="en-US" altLang="zh-CN" sz="24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)</a:t>
            </a:r>
            <a:endParaRPr lang="zh-CN" altLang="en-US" sz="2400" b="1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7" name="CoverAffil">
            <a:extLst>
              <a:ext uri="{FF2B5EF4-FFF2-40B4-BE49-F238E27FC236}">
                <a16:creationId xmlns:a16="http://schemas.microsoft.com/office/drawing/2014/main" id="{7852E0DC-721D-21A7-1A00-7574CBCCAE43}"/>
              </a:ext>
            </a:extLst>
          </p:cNvPr>
          <p:cNvSpPr txBox="1"/>
          <p:nvPr/>
        </p:nvSpPr>
        <p:spPr>
          <a:xfrm>
            <a:off x="1905000" y="4699000"/>
            <a:ext cx="8382000" cy="430182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480"/>
              </a:spcAft>
            </a:pPr>
            <a:r>
              <a:rPr lang="en-US" altLang="zh-CN" sz="20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Affiliation: see paper first page (</a:t>
            </a:r>
            <a:r>
              <a:rPr lang="zh-CN" altLang="en-US" sz="20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待补充</a:t>
            </a:r>
            <a:r>
              <a:rPr lang="en-US" altLang="zh-CN" sz="2000" b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)</a:t>
            </a:r>
            <a:endParaRPr lang="zh-CN" altLang="en-US" sz="2000" b="1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pic>
        <p:nvPicPr>
          <p:cNvPr id="9" name="FooterBand">
            <a:extLst>
              <a:ext uri="{FF2B5EF4-FFF2-40B4-BE49-F238E27FC236}">
                <a16:creationId xmlns:a16="http://schemas.microsoft.com/office/drawing/2014/main" id="{E6EE808F-FF54-EC71-FCEE-DF1A7BAF6B7A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75400"/>
            <a:ext cx="12192000" cy="482600"/>
          </a:xfrm>
          <a:prstGeom prst="rect">
            <a:avLst/>
          </a:prstGeom>
        </p:spPr>
      </p:pic>
      <p:sp>
        <p:nvSpPr>
          <p:cNvPr id="10" name="PageNo">
            <a:extLst>
              <a:ext uri="{FF2B5EF4-FFF2-40B4-BE49-F238E27FC236}">
                <a16:creationId xmlns:a16="http://schemas.microsoft.com/office/drawing/2014/main" id="{DF7C8C48-A8CB-45D2-5E2C-D77029767724}"/>
              </a:ext>
            </a:extLst>
          </p:cNvPr>
          <p:cNvSpPr txBox="1"/>
          <p:nvPr/>
        </p:nvSpPr>
        <p:spPr>
          <a:xfrm>
            <a:off x="5588000" y="6426200"/>
            <a:ext cx="1016000" cy="42941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480"/>
              </a:spcAft>
            </a:pPr>
            <a:r>
              <a:rPr lang="en-US" altLang="zh-CN" sz="20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0</a:t>
            </a:r>
            <a:endParaRPr lang="zh-CN" altLang="en-US" sz="20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1" name="SessionId">
            <a:extLst>
              <a:ext uri="{FF2B5EF4-FFF2-40B4-BE49-F238E27FC236}">
                <a16:creationId xmlns:a16="http://schemas.microsoft.com/office/drawing/2014/main" id="{E117C072-BBE5-C6C9-52F5-6B4B75EF76BE}"/>
              </a:ext>
            </a:extLst>
          </p:cNvPr>
          <p:cNvSpPr txBox="1"/>
          <p:nvPr/>
        </p:nvSpPr>
        <p:spPr>
          <a:xfrm>
            <a:off x="9906000" y="6451600"/>
            <a:ext cx="2159000" cy="3283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336"/>
              </a:spcAft>
            </a:pPr>
            <a:r>
              <a:rPr lang="en-US" altLang="zh-CN" sz="14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RTu1A-3</a:t>
            </a:r>
            <a:endParaRPr lang="zh-CN" altLang="en-US" sz="14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80594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Left">
            <a:extLst>
              <a:ext uri="{FF2B5EF4-FFF2-40B4-BE49-F238E27FC236}">
                <a16:creationId xmlns:a16="http://schemas.microsoft.com/office/drawing/2014/main" id="{97C5F169-B8AE-84C9-5627-4B028DCD7473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01600"/>
            <a:ext cx="685800" cy="14986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FA196DD4-DA57-D2AC-F8ED-739DE0DAC8BD}"/>
              </a:ext>
            </a:extLst>
          </p:cNvPr>
          <p:cNvSpPr txBox="1"/>
          <p:nvPr/>
        </p:nvSpPr>
        <p:spPr>
          <a:xfrm>
            <a:off x="508000" y="114300"/>
            <a:ext cx="11176000" cy="8340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1056"/>
              </a:spcAft>
            </a:pPr>
            <a:r>
              <a:rPr lang="en-US" altLang="zh-CN" sz="44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Outline</a:t>
            </a:r>
            <a:endParaRPr lang="zh-CN" altLang="en-US" sz="44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5" name="OutlineBullets">
            <a:extLst>
              <a:ext uri="{FF2B5EF4-FFF2-40B4-BE49-F238E27FC236}">
                <a16:creationId xmlns:a16="http://schemas.microsoft.com/office/drawing/2014/main" id="{9C90DF33-E7D5-19D9-BE71-5180CDE5F816}"/>
              </a:ext>
            </a:extLst>
          </p:cNvPr>
          <p:cNvSpPr txBox="1"/>
          <p:nvPr/>
        </p:nvSpPr>
        <p:spPr>
          <a:xfrm>
            <a:off x="927100" y="1778000"/>
            <a:ext cx="8890000" cy="181357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768"/>
              </a:spcAft>
            </a:pP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Background &amp; Challenges</a:t>
            </a:r>
            <a:b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</a:b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Proposed Triple-Winding Transformer LNA</a:t>
            </a:r>
            <a:b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</a:b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Measurement Results</a:t>
            </a:r>
            <a:endParaRPr lang="zh-CN" altLang="en-US" sz="32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pic>
        <p:nvPicPr>
          <p:cNvPr id="7" name="FooterBand">
            <a:extLst>
              <a:ext uri="{FF2B5EF4-FFF2-40B4-BE49-F238E27FC236}">
                <a16:creationId xmlns:a16="http://schemas.microsoft.com/office/drawing/2014/main" id="{30E94C69-7479-2E5D-2C1D-6DDE607B34EC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75400"/>
            <a:ext cx="12192000" cy="482600"/>
          </a:xfrm>
          <a:prstGeom prst="rect">
            <a:avLst/>
          </a:prstGeom>
        </p:spPr>
      </p:pic>
      <p:sp>
        <p:nvSpPr>
          <p:cNvPr id="8" name="PageNo">
            <a:extLst>
              <a:ext uri="{FF2B5EF4-FFF2-40B4-BE49-F238E27FC236}">
                <a16:creationId xmlns:a16="http://schemas.microsoft.com/office/drawing/2014/main" id="{61B24CB8-E2F3-DCBF-E485-1A0274EF8E1E}"/>
              </a:ext>
            </a:extLst>
          </p:cNvPr>
          <p:cNvSpPr txBox="1"/>
          <p:nvPr/>
        </p:nvSpPr>
        <p:spPr>
          <a:xfrm>
            <a:off x="5588000" y="6426200"/>
            <a:ext cx="1016000" cy="42941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480"/>
              </a:spcAft>
            </a:pPr>
            <a:r>
              <a:rPr lang="en-US" altLang="zh-CN" sz="20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1</a:t>
            </a:r>
            <a:endParaRPr lang="zh-CN" altLang="en-US" sz="20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9" name="SessionId">
            <a:extLst>
              <a:ext uri="{FF2B5EF4-FFF2-40B4-BE49-F238E27FC236}">
                <a16:creationId xmlns:a16="http://schemas.microsoft.com/office/drawing/2014/main" id="{49932A76-C731-2FAA-AD9E-3784A07D75EB}"/>
              </a:ext>
            </a:extLst>
          </p:cNvPr>
          <p:cNvSpPr txBox="1"/>
          <p:nvPr/>
        </p:nvSpPr>
        <p:spPr>
          <a:xfrm>
            <a:off x="9906000" y="6451600"/>
            <a:ext cx="2159000" cy="3283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336"/>
              </a:spcAft>
            </a:pPr>
            <a:r>
              <a:rPr lang="en-US" altLang="zh-CN" sz="14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RTu1A-3</a:t>
            </a:r>
            <a:endParaRPr lang="zh-CN" altLang="en-US" sz="14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8490031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Left">
            <a:extLst>
              <a:ext uri="{FF2B5EF4-FFF2-40B4-BE49-F238E27FC236}">
                <a16:creationId xmlns:a16="http://schemas.microsoft.com/office/drawing/2014/main" id="{49A3D214-7C80-A6AC-8B4B-9D4F5AC46035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000" y="101600"/>
            <a:ext cx="685800" cy="1498600"/>
          </a:xfrm>
          <a:prstGeom prst="rect">
            <a:avLst/>
          </a:prstGeom>
        </p:spPr>
      </p:pic>
      <p:sp>
        <p:nvSpPr>
          <p:cNvPr id="4" name="Title">
            <a:extLst>
              <a:ext uri="{FF2B5EF4-FFF2-40B4-BE49-F238E27FC236}">
                <a16:creationId xmlns:a16="http://schemas.microsoft.com/office/drawing/2014/main" id="{D488618F-39D8-3176-48E8-0DD46612CE99}"/>
              </a:ext>
            </a:extLst>
          </p:cNvPr>
          <p:cNvSpPr txBox="1"/>
          <p:nvPr/>
        </p:nvSpPr>
        <p:spPr>
          <a:xfrm>
            <a:off x="508000" y="114300"/>
            <a:ext cx="11176000" cy="8340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1056"/>
              </a:spcAft>
            </a:pPr>
            <a:r>
              <a:rPr lang="en-US" altLang="zh-CN" sz="44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Motivation</a:t>
            </a:r>
            <a:endParaRPr lang="zh-CN" altLang="en-US" sz="44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5" name="LeadIn">
            <a:extLst>
              <a:ext uri="{FF2B5EF4-FFF2-40B4-BE49-F238E27FC236}">
                <a16:creationId xmlns:a16="http://schemas.microsoft.com/office/drawing/2014/main" id="{88639B2E-2A1E-3A77-85CF-E88D4C97438D}"/>
              </a:ext>
            </a:extLst>
          </p:cNvPr>
          <p:cNvSpPr txBox="1"/>
          <p:nvPr/>
        </p:nvSpPr>
        <p:spPr>
          <a:xfrm>
            <a:off x="927100" y="1270000"/>
            <a:ext cx="7620000" cy="631711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768"/>
              </a:spcAft>
            </a:pPr>
            <a:r>
              <a:rPr lang="en-US" altLang="zh-CN" sz="3200" b="1" i="1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Wideband LNA trade-off:</a:t>
            </a:r>
            <a:endParaRPr lang="zh-CN" altLang="en-US" sz="3200" b="1" i="1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6" name="L1Bullets">
            <a:extLst>
              <a:ext uri="{FF2B5EF4-FFF2-40B4-BE49-F238E27FC236}">
                <a16:creationId xmlns:a16="http://schemas.microsoft.com/office/drawing/2014/main" id="{F75686C4-A7A2-1810-E75F-5FB1BE509026}"/>
              </a:ext>
            </a:extLst>
          </p:cNvPr>
          <p:cNvSpPr txBox="1"/>
          <p:nvPr/>
        </p:nvSpPr>
        <p:spPr>
          <a:xfrm>
            <a:off x="927100" y="1968499"/>
            <a:ext cx="9906000" cy="2286000"/>
          </a:xfrm>
          <a:prstGeom prst="rect">
            <a:avLst/>
          </a:prstGeom>
          <a:noFill/>
        </p:spPr>
        <p:txBody>
          <a:bodyPr vert="horz" wrap="square" rtlCol="0">
            <a:noAutofit/>
          </a:bodyPr>
          <a:lstStyle/>
          <a:p>
            <a:pPr>
              <a:lnSpc>
                <a:spcPct val="120000"/>
              </a:lnSpc>
              <a:spcAft>
                <a:spcPts val="768"/>
              </a:spcAft>
            </a:pP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6-12 GHz bandwidth with 0.8-1.5 dB NF</a:t>
            </a:r>
            <a:b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</a:b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Transformer-based input matching, ESD-robust</a:t>
            </a:r>
            <a:b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</a:br>
            <a:r>
              <a:rPr lang="en-US" altLang="zh-CN" sz="32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•  Challenge: BW-NF-linearity co-design in SOI CMOS</a:t>
            </a:r>
            <a:endParaRPr lang="zh-CN" altLang="en-US" sz="32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7" name="FormulaCaption">
            <a:extLst>
              <a:ext uri="{FF2B5EF4-FFF2-40B4-BE49-F238E27FC236}">
                <a16:creationId xmlns:a16="http://schemas.microsoft.com/office/drawing/2014/main" id="{08EBEF16-94A3-3E8B-FB35-9FA83A9CB6CA}"/>
              </a:ext>
            </a:extLst>
          </p:cNvPr>
          <p:cNvSpPr txBox="1"/>
          <p:nvPr/>
        </p:nvSpPr>
        <p:spPr>
          <a:xfrm>
            <a:off x="927100" y="4445000"/>
            <a:ext cx="6350000" cy="429413"/>
          </a:xfrm>
          <a:prstGeom prst="rect">
            <a:avLst/>
          </a:prstGeom>
          <a:noFill/>
        </p:spPr>
        <p:txBody>
          <a:bodyPr vert="horz"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480"/>
              </a:spcAft>
            </a:pPr>
            <a:r>
              <a:rPr lang="en-US" altLang="zh-CN" sz="20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Noise factor definition (textbook):</a:t>
            </a:r>
            <a:endParaRPr lang="zh-CN" altLang="en-US" sz="20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pic>
        <p:nvPicPr>
          <p:cNvPr id="9" name="FooterBand">
            <a:extLst>
              <a:ext uri="{FF2B5EF4-FFF2-40B4-BE49-F238E27FC236}">
                <a16:creationId xmlns:a16="http://schemas.microsoft.com/office/drawing/2014/main" id="{F1D05B3E-4295-1FBF-A342-154CE15C521D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375400"/>
            <a:ext cx="12192000" cy="482600"/>
          </a:xfrm>
          <a:prstGeom prst="rect">
            <a:avLst/>
          </a:prstGeom>
        </p:spPr>
      </p:pic>
      <p:sp>
        <p:nvSpPr>
          <p:cNvPr id="10" name="PageNo">
            <a:extLst>
              <a:ext uri="{FF2B5EF4-FFF2-40B4-BE49-F238E27FC236}">
                <a16:creationId xmlns:a16="http://schemas.microsoft.com/office/drawing/2014/main" id="{08F5E3F5-EE8B-56FE-5317-3E6F71F984E6}"/>
              </a:ext>
            </a:extLst>
          </p:cNvPr>
          <p:cNvSpPr txBox="1"/>
          <p:nvPr/>
        </p:nvSpPr>
        <p:spPr>
          <a:xfrm>
            <a:off x="5588000" y="6426200"/>
            <a:ext cx="1016000" cy="42941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480"/>
              </a:spcAft>
            </a:pPr>
            <a:r>
              <a:rPr lang="en-US" altLang="zh-CN" sz="20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2</a:t>
            </a:r>
            <a:endParaRPr lang="zh-CN" altLang="en-US" sz="20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1" name="SessionId">
            <a:extLst>
              <a:ext uri="{FF2B5EF4-FFF2-40B4-BE49-F238E27FC236}">
                <a16:creationId xmlns:a16="http://schemas.microsoft.com/office/drawing/2014/main" id="{11721A9A-CAC5-33A7-A129-9BE9977217E3}"/>
              </a:ext>
            </a:extLst>
          </p:cNvPr>
          <p:cNvSpPr txBox="1"/>
          <p:nvPr/>
        </p:nvSpPr>
        <p:spPr>
          <a:xfrm>
            <a:off x="9906000" y="6451600"/>
            <a:ext cx="2159000" cy="32836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>
              <a:lnSpc>
                <a:spcPct val="120000"/>
              </a:lnSpc>
              <a:spcAft>
                <a:spcPts val="336"/>
              </a:spcAft>
            </a:pPr>
            <a:r>
              <a:rPr lang="en-US" altLang="zh-CN" sz="1400">
                <a:solidFill>
                  <a:srgbClr val="000000"/>
                </a:solidFill>
                <a:latin typeface="Times New Roman" panose="02020603050405020304" pitchFamily="18" charset="0"/>
                <a:ea typeface="微软雅黑" panose="020B0503020204020204" pitchFamily="34" charset="-122"/>
              </a:rPr>
              <a:t>RTu1A-3</a:t>
            </a:r>
            <a:endParaRPr lang="zh-CN" altLang="en-US" sz="1400">
              <a:solidFill>
                <a:srgbClr val="000000"/>
              </a:solidFill>
              <a:latin typeface="Times New Roman" panose="02020603050405020304" pitchFamily="18" charset="0"/>
              <a:ea typeface="微软雅黑" panose="020B0503020204020204" pitchFamily="34" charset="-122"/>
            </a:endParaRPr>
          </a:p>
        </p:txBody>
      </p:sp>
      <p:sp>
        <p:nvSpPr>
          <p:cNvPr id="12" name="Equation3"/>
          <p:cNvSpPr/>
          <p:nvPr/>
        </p:nvSpPr>
        <p:spPr>
          <a:xfrm>
            <a:off x="3175000" y="5016500"/>
            <a:ext cx="5715000" cy="762000"/>
          </a:xfrm>
          <a:prstGeom prst="rect">
            <a:avLst/>
          </a:prstGeom>
        </p:spPr>
        <p:txBody>
          <a:bodyPr/>
          <a:lstStyle/>
          <a:p>
            <a14:m xmlns:a14="http://schemas.microsoft.com/office/drawing/2010/main">
              <m:oMathPara xmlns:m="http://schemas.openxmlformats.org/officeDocument/2006/math">
                <m:oMath>
                  <m:r>
                    <a:rPr lang="en-US" i="1" sz="2400">
                      <a:latin typeface="Cambria Math"/>
                    </a:rPr>
                    <m:t>F</m:t>
                  </m:r>
                  <m:r>
                    <a:rPr lang="en-US" i="0" sz="2400">
                      <a:latin typeface="Cambria Math"/>
                    </a:rPr>
                    <m:t>=</m:t>
                  </m:r>
                  <m:f>
                    <m:num>
                      <m:sSub>
                        <m:e>
                          <m:r>
                            <a:rPr lang="en-US" i="0" sz="2400">
                              <a:latin typeface="Cambria Math"/>
                            </a:rPr>
                            <m:t>SNR</m:t>
                          </m:r>
                        </m:e>
                        <m:sub>
                          <m:r>
                            <a:rPr lang="en-US" i="1" sz="2400">
                              <a:latin typeface="Cambria Math"/>
                            </a:rPr>
                            <m:t>in</m:t>
                          </m:r>
                        </m:sub>
                      </m:sSub>
                    </m:num>
                    <m:den>
                      <m:sSub>
                        <m:e>
                          <m:r>
                            <a:rPr lang="en-US" i="0" sz="2400">
                              <a:latin typeface="Cambria Math"/>
                            </a:rPr>
                            <m:t>SNR</m:t>
                          </m:r>
                        </m:e>
                        <m:sub>
                          <m:r>
                            <a:rPr lang="en-US" i="1" sz="2400">
                              <a:latin typeface="Cambria Math"/>
                            </a:rPr>
                            <m:t>out</m:t>
                          </m:r>
                        </m:sub>
                      </m:sSub>
                    </m:den>
                  </m:f>
                </m:oMath>
              </m:oMathPara>
            </a14:m>
          </a:p>
        </p:txBody>
      </p:sp>
    </p:spTree>
    <p:extLst>
      <p:ext uri="{BB962C8B-B14F-4D97-AF65-F5344CB8AC3E}">
        <p14:creationId xmlns:p14="http://schemas.microsoft.com/office/powerpoint/2010/main" val="3714742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</Words>
  <Application>Microsoft Office PowerPoint</Application>
  <PresentationFormat>自定义</PresentationFormat>
  <Paragraphs>16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磊 王</dc:creator>
  <cp:lastModifiedBy>磊 王</cp:lastModifiedBy>
  <cp:revision>1</cp:revision>
  <dcterms:created xsi:type="dcterms:W3CDTF">2026-09-17T09:26:06Z</dcterms:created>
  <dcterms:modified xsi:type="dcterms:W3CDTF">2026-09-17T09:26:06Z</dcterms:modified>
</cp:coreProperties>
</file>