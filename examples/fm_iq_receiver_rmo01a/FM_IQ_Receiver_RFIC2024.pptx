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38BF4-EACC-C21F-C0E8-DBAA946D4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F83D68-0EA7-7A6F-FA43-0D448F0A3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DEEE8-385D-F748-74D4-8E00D393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E27390-B32B-2827-9D9B-A39CEA75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B9F45-DBDA-5A9F-63FC-885FDEB8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86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3DF33-F19A-0C61-C2B5-ECAE59B4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0308D0-E393-BC37-7A0E-097DBE421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639FD-9EB0-E738-2D6B-EFE48276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E25EB-26EE-5310-8FA9-16BDE937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AC01F-5BF4-07BF-610B-7A5496D6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82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CB643-6388-9D7F-5848-87969F6E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C17241-05BE-422D-2A26-AD159741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06218-0184-B21A-A81C-CD7C02B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AE800-2979-A3F7-B1C3-CA868DD5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CF62A-BBA2-0C22-370B-C3217021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8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6D668-5E98-5F93-FABD-0B79A7562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A2DF8-3DDA-5A3B-2927-24488CE2F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5CF575-F1DC-4782-A314-B5C4D8429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2B2F17-8FA4-5E77-7A29-A8AEEEA0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DCFE20-0B91-8401-C817-7AC670BB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FADE09-C824-93FF-1D70-B8C59E85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062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5BF37-FB76-89F8-0ABD-68EAF2A7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C72E81-BF8E-F0FB-52EE-992D9B905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922D61-5276-29D9-9B19-96E8BD38B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63E27B-34DD-4F79-4975-3329CD914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EEADCA-5E89-EBEE-7A94-34001A34B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285AE9-09C9-AD62-F103-083D7076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317E8E-1C1C-3F44-DF5A-4AFA7A8A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E60EDA-CD21-D66C-AD61-4EA6D671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47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79797-458C-81A7-9E79-CA6F2EF2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33DF6E-2807-454A-4272-01122C1C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61D82C-C68D-3B65-2905-C87AD9F5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94ED64-992E-3FFF-C8C9-827DA69B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191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023E94-27B1-485F-8C56-974F8771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1BB5E5-2BD8-DCF0-092C-68F1006B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555D30-9537-7866-2758-0DD20275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6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DADFE-C2CF-5EDB-69B8-1D211A4F1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DB753-9D4C-5EF9-463D-9FEFB7B82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D503DE-1460-7333-379D-E03D8FED2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B961E0-DC18-BDA5-DD27-059C46C6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A80FA-24E0-5890-F1A6-97548E40C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815B6F-B6A1-D2C0-A92E-A8DEE3FA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50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7366E-3A62-78EE-F17E-B8A934908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0C45760-824D-6895-8BD0-76B050EAA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000845-336B-6336-0369-4A6427564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AC874C-9861-C1AD-E3F8-977AB6C9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21933B-E0EE-1ADE-06FE-253656F0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657D8-7EB2-7F82-6B5D-7F7171E4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189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9D3A8-BBC5-B5F3-D03C-2D76B13A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17AF-EA49-5840-5294-2C8D1D123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710963-B61C-F416-BA43-01810EA5D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48B29-1DA6-E7F5-A863-FBABBB0F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03BC1-DB0A-A51F-81CC-58FB64A3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49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B04D9B-A6FC-6071-8848-E86A2638E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21EBC1-4EF7-14CF-C3D6-A395EE331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399EA-5BFC-BF46-AD3A-D9EF05F2A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4DDB8-1EF4-CD99-8A84-D9C0F02A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67A46-A4BC-563B-ED35-12D23EE2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97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74F49A-83DF-116D-6B93-7D55E260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6DE8EE-EA51-FB41-A20E-030A4C822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94E92-9208-2C16-47D0-1579B9128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D7B5D-62DE-4AAA-81EA-818F3B5CF6BB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F12D7-A6D0-43DD-799A-92EB51F04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B33D89-4571-D012-9169-1C3707163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72F6-A577-47B8-880A-FFBD2113D2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01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Kicker">
            <a:extLst>
              <a:ext uri="{FF2B5EF4-FFF2-40B4-BE49-F238E27FC236}">
                <a16:creationId xmlns:a16="http://schemas.microsoft.com/office/drawing/2014/main" id="{BB5A6113-FD24-EA01-C8A6-B4FF9C4BDE3F}"/>
              </a:ext>
            </a:extLst>
          </p:cNvPr>
          <p:cNvSpPr txBox="1"/>
          <p:nvPr/>
        </p:nvSpPr>
        <p:spPr>
          <a:xfrm>
            <a:off x="1651000" y="812800"/>
            <a:ext cx="8890000" cy="6328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768"/>
              </a:spcAft>
            </a:pPr>
            <a:r>
              <a:rPr lang="en-US" altLang="zh-CN" sz="3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Simulink </a:t>
            </a:r>
            <a:r>
              <a:rPr lang="zh-CN" altLang="en-US" sz="3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模型讲解</a:t>
            </a:r>
          </a:p>
        </p:txBody>
      </p:sp>
      <p:sp>
        <p:nvSpPr>
          <p:cNvPr id="3" name="CoverTitle">
            <a:extLst>
              <a:ext uri="{FF2B5EF4-FFF2-40B4-BE49-F238E27FC236}">
                <a16:creationId xmlns:a16="http://schemas.microsoft.com/office/drawing/2014/main" id="{338F67AA-AC7B-5FA5-ED68-6EC5112FB5F5}"/>
              </a:ext>
            </a:extLst>
          </p:cNvPr>
          <p:cNvSpPr txBox="1"/>
          <p:nvPr/>
        </p:nvSpPr>
        <p:spPr>
          <a:xfrm>
            <a:off x="1016000" y="1905000"/>
            <a:ext cx="10160000" cy="16764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1056"/>
              </a:spcAft>
            </a:pPr>
            <a:r>
              <a:rPr lang="en-US" altLang="zh-CN" sz="4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 I/Q </a:t>
            </a:r>
            <a:r>
              <a:rPr lang="zh-CN" altLang="en-US" sz="4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接收机：</a:t>
            </a:r>
          </a:p>
          <a:p>
            <a:pPr algn="ctr">
              <a:lnSpc>
                <a:spcPct val="120000"/>
              </a:lnSpc>
              <a:spcAft>
                <a:spcPts val="1056"/>
              </a:spcAft>
            </a:pPr>
            <a:r>
              <a:rPr lang="en-US" altLang="zh-CN" sz="4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Weaver </a:t>
            </a:r>
            <a:r>
              <a:rPr lang="zh-CN" altLang="en-US" sz="4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镜像抑制架构</a:t>
            </a:r>
          </a:p>
        </p:txBody>
      </p:sp>
      <p:sp>
        <p:nvSpPr>
          <p:cNvPr id="4" name="CoverAuthor">
            <a:extLst>
              <a:ext uri="{FF2B5EF4-FFF2-40B4-BE49-F238E27FC236}">
                <a16:creationId xmlns:a16="http://schemas.microsoft.com/office/drawing/2014/main" id="{B16623D5-2CB9-7AD5-FDF1-74D0F6A4B274}"/>
              </a:ext>
            </a:extLst>
          </p:cNvPr>
          <p:cNvSpPr txBox="1"/>
          <p:nvPr/>
        </p:nvSpPr>
        <p:spPr>
          <a:xfrm>
            <a:off x="2286000" y="4457700"/>
            <a:ext cx="762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王磊</a:t>
            </a:r>
          </a:p>
        </p:txBody>
      </p:sp>
      <p:sp>
        <p:nvSpPr>
          <p:cNvPr id="5" name="CoverDate">
            <a:extLst>
              <a:ext uri="{FF2B5EF4-FFF2-40B4-BE49-F238E27FC236}">
                <a16:creationId xmlns:a16="http://schemas.microsoft.com/office/drawing/2014/main" id="{05C17922-99AB-3D7E-E264-33B5D9FC763A}"/>
              </a:ext>
            </a:extLst>
          </p:cNvPr>
          <p:cNvSpPr txBox="1"/>
          <p:nvPr/>
        </p:nvSpPr>
        <p:spPr>
          <a:xfrm>
            <a:off x="2286000" y="5334000"/>
            <a:ext cx="7620000" cy="4294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2026-09-16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" name="FooterBand">
            <a:extLst>
              <a:ext uri="{FF2B5EF4-FFF2-40B4-BE49-F238E27FC236}">
                <a16:creationId xmlns:a16="http://schemas.microsoft.com/office/drawing/2014/main" id="{6309EC16-66BC-B7AD-1714-7E3ACDC0BB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8" name="PageNo">
            <a:extLst>
              <a:ext uri="{FF2B5EF4-FFF2-40B4-BE49-F238E27FC236}">
                <a16:creationId xmlns:a16="http://schemas.microsoft.com/office/drawing/2014/main" id="{3BB3F3E3-8238-A98D-5487-8EB911763AB2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503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2BF3251-2BB0-B1D8-30C2-CC7AF33716A6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Outline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BBCBF93C-E8A9-4211-FFF2-431D41D2FF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E1A8D77F-7574-07E7-DF97-8046E697CE6D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Bullets2">
            <a:extLst>
              <a:ext uri="{FF2B5EF4-FFF2-40B4-BE49-F238E27FC236}">
                <a16:creationId xmlns:a16="http://schemas.microsoft.com/office/drawing/2014/main" id="{5E6F2BA9-ECC5-AB9A-5EEF-990181A16629}"/>
              </a:ext>
            </a:extLst>
          </p:cNvPr>
          <p:cNvSpPr txBox="1"/>
          <p:nvPr/>
        </p:nvSpPr>
        <p:spPr>
          <a:xfrm>
            <a:off x="1778000" y="1778000"/>
            <a:ext cx="8636000" cy="34069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77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镜像问题：同消息、仅低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12.04 dB</a:t>
            </a:r>
          </a:p>
          <a:p>
            <a:pPr>
              <a:lnSpc>
                <a:spcPct val="120000"/>
              </a:lnSpc>
              <a:spcAft>
                <a:spcPts val="77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FM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预备：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β=4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Carson 500 Hz</a:t>
            </a:r>
          </a:p>
          <a:p>
            <a:pPr>
              <a:lnSpc>
                <a:spcPct val="120000"/>
              </a:lnSpc>
              <a:spcAft>
                <a:spcPts val="77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四道防线：复混频→旋转→基带滤波→鉴频</a:t>
            </a:r>
          </a:p>
          <a:p>
            <a:pPr>
              <a:lnSpc>
                <a:spcPct val="120000"/>
              </a:lnSpc>
              <a:spcAft>
                <a:spcPts val="77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鲁棒性与结果：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corr=0.9613</a:t>
            </a:r>
          </a:p>
          <a:p>
            <a:pPr>
              <a:lnSpc>
                <a:spcPct val="120000"/>
              </a:lnSpc>
              <a:spcAft>
                <a:spcPts val="77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参数与结论：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47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变量实测一致</a:t>
            </a:r>
          </a:p>
        </p:txBody>
      </p:sp>
    </p:spTree>
    <p:extLst>
      <p:ext uri="{BB962C8B-B14F-4D97-AF65-F5344CB8AC3E}">
        <p14:creationId xmlns:p14="http://schemas.microsoft.com/office/powerpoint/2010/main" val="169744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BBD0BC-8EBF-97F1-5237-2C209F0B2016}"/>
              </a:ext>
            </a:extLst>
          </p:cNvPr>
          <p:cNvSpPr txBox="1"/>
          <p:nvPr/>
        </p:nvSpPr>
        <p:spPr>
          <a:xfrm>
            <a:off x="304800" y="254000"/>
            <a:ext cx="115824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痛点：镜像同消息同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，仅低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12.04 dB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6B1BA7EA-4700-39E1-C9E3-B571614F60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FC315AF4-20D3-C5B0-2EE0-35B5F5AB0B12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Eq3aLabel">
            <a:extLst>
              <a:ext uri="{FF2B5EF4-FFF2-40B4-BE49-F238E27FC236}">
                <a16:creationId xmlns:a16="http://schemas.microsoft.com/office/drawing/2014/main" id="{CB1220F0-B63C-28F1-2BD6-ABF70F8B1AC2}"/>
              </a:ext>
            </a:extLst>
          </p:cNvPr>
          <p:cNvSpPr txBox="1"/>
          <p:nvPr/>
        </p:nvSpPr>
        <p:spPr>
          <a:xfrm>
            <a:off x="1016000" y="2235200"/>
            <a:ext cx="5080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有用：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1000 Hz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载波，幅度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Eq3bLabel">
            <a:extLst>
              <a:ext uri="{FF2B5EF4-FFF2-40B4-BE49-F238E27FC236}">
                <a16:creationId xmlns:a16="http://schemas.microsoft.com/office/drawing/2014/main" id="{AF5F3E41-6A9F-2530-0F4F-B61004A5021D}"/>
              </a:ext>
            </a:extLst>
          </p:cNvPr>
          <p:cNvSpPr txBox="1"/>
          <p:nvPr/>
        </p:nvSpPr>
        <p:spPr>
          <a:xfrm>
            <a:off x="6096000" y="2235200"/>
            <a:ext cx="5080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 Hz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载波，幅度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γA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γ = 0.25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FreqAxis">
            <a:extLst>
              <a:ext uri="{FF2B5EF4-FFF2-40B4-BE49-F238E27FC236}">
                <a16:creationId xmlns:a16="http://schemas.microsoft.com/office/drawing/2014/main" id="{8DBABF3F-EA98-9C79-F425-E914951BA5F2}"/>
              </a:ext>
            </a:extLst>
          </p:cNvPr>
          <p:cNvSpPr/>
          <p:nvPr/>
        </p:nvSpPr>
        <p:spPr>
          <a:xfrm>
            <a:off x="2921000" y="3784600"/>
            <a:ext cx="6350000" cy="38100"/>
          </a:xfrm>
          <a:prstGeom prst="rect">
            <a:avLst/>
          </a:prstGeom>
          <a:solidFill>
            <a:srgbClr val="262626"/>
          </a:solidFill>
          <a:ln w="6350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60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ick1">
            <a:extLst>
              <a:ext uri="{FF2B5EF4-FFF2-40B4-BE49-F238E27FC236}">
                <a16:creationId xmlns:a16="http://schemas.microsoft.com/office/drawing/2014/main" id="{8E95315B-79B1-F4BB-41FF-A78176B11AA1}"/>
              </a:ext>
            </a:extLst>
          </p:cNvPr>
          <p:cNvSpPr/>
          <p:nvPr/>
        </p:nvSpPr>
        <p:spPr>
          <a:xfrm>
            <a:off x="4038600" y="3606800"/>
            <a:ext cx="38100" cy="177800"/>
          </a:xfrm>
          <a:prstGeom prst="rect">
            <a:avLst/>
          </a:prstGeom>
          <a:solidFill>
            <a:srgbClr val="262626"/>
          </a:solidFill>
          <a:ln w="6350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60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" name="Tick2">
            <a:extLst>
              <a:ext uri="{FF2B5EF4-FFF2-40B4-BE49-F238E27FC236}">
                <a16:creationId xmlns:a16="http://schemas.microsoft.com/office/drawing/2014/main" id="{C4DAEB1C-617F-6F77-CD61-FE6A34910719}"/>
              </a:ext>
            </a:extLst>
          </p:cNvPr>
          <p:cNvSpPr/>
          <p:nvPr/>
        </p:nvSpPr>
        <p:spPr>
          <a:xfrm>
            <a:off x="6070600" y="3606800"/>
            <a:ext cx="38100" cy="177800"/>
          </a:xfrm>
          <a:prstGeom prst="rect">
            <a:avLst/>
          </a:prstGeom>
          <a:solidFill>
            <a:srgbClr val="262626"/>
          </a:solidFill>
          <a:ln w="6350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60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ick3">
            <a:extLst>
              <a:ext uri="{FF2B5EF4-FFF2-40B4-BE49-F238E27FC236}">
                <a16:creationId xmlns:a16="http://schemas.microsoft.com/office/drawing/2014/main" id="{58776D32-3B89-74B6-6AF3-2BAFDC388303}"/>
              </a:ext>
            </a:extLst>
          </p:cNvPr>
          <p:cNvSpPr/>
          <p:nvPr/>
        </p:nvSpPr>
        <p:spPr>
          <a:xfrm>
            <a:off x="8102600" y="3606800"/>
            <a:ext cx="38100" cy="177800"/>
          </a:xfrm>
          <a:prstGeom prst="rect">
            <a:avLst/>
          </a:prstGeom>
          <a:solidFill>
            <a:srgbClr val="262626"/>
          </a:solidFill>
          <a:ln w="6350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60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" name="TickLbl1">
            <a:extLst>
              <a:ext uri="{FF2B5EF4-FFF2-40B4-BE49-F238E27FC236}">
                <a16:creationId xmlns:a16="http://schemas.microsoft.com/office/drawing/2014/main" id="{1FB1D0FE-7D63-9D7F-DBD3-7BF9128B6539}"/>
              </a:ext>
            </a:extLst>
          </p:cNvPr>
          <p:cNvSpPr txBox="1"/>
          <p:nvPr/>
        </p:nvSpPr>
        <p:spPr>
          <a:xfrm>
            <a:off x="3175000" y="3886200"/>
            <a:ext cx="1778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 </a:t>
            </a:r>
            <a:r>
              <a:rPr lang="en-US" altLang="zh-CN" sz="160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200 Hz</a:t>
            </a:r>
            <a:endParaRPr lang="zh-CN" altLang="en-US" sz="160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TickLbl2">
            <a:extLst>
              <a:ext uri="{FF2B5EF4-FFF2-40B4-BE49-F238E27FC236}">
                <a16:creationId xmlns:a16="http://schemas.microsoft.com/office/drawing/2014/main" id="{D274DCC8-7F5B-704A-C3EA-0CF17D3A39ED}"/>
              </a:ext>
            </a:extLst>
          </p:cNvPr>
          <p:cNvSpPr txBox="1"/>
          <p:nvPr/>
        </p:nvSpPr>
        <p:spPr>
          <a:xfrm>
            <a:off x="5207000" y="3886200"/>
            <a:ext cx="1778000" cy="3620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LO 600 Hz</a:t>
            </a:r>
            <a:endParaRPr lang="zh-CN" altLang="en-US" sz="160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TickLbl3">
            <a:extLst>
              <a:ext uri="{FF2B5EF4-FFF2-40B4-BE49-F238E27FC236}">
                <a16:creationId xmlns:a16="http://schemas.microsoft.com/office/drawing/2014/main" id="{F78A4B79-8031-C499-8B6C-DCA06BEEB471}"/>
              </a:ext>
            </a:extLst>
          </p:cNvPr>
          <p:cNvSpPr txBox="1"/>
          <p:nvPr/>
        </p:nvSpPr>
        <p:spPr>
          <a:xfrm>
            <a:off x="7239000" y="3886200"/>
            <a:ext cx="1778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有用 </a:t>
            </a:r>
            <a:r>
              <a:rPr lang="en-US" altLang="zh-CN" sz="16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1000 Hz</a:t>
            </a:r>
            <a:endParaRPr lang="zh-CN" altLang="en-US" sz="160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Prop3">
            <a:extLst>
              <a:ext uri="{FF2B5EF4-FFF2-40B4-BE49-F238E27FC236}">
                <a16:creationId xmlns:a16="http://schemas.microsoft.com/office/drawing/2014/main" id="{99C1C1FE-0E89-8C0A-BB83-1ED28A9002EC}"/>
              </a:ext>
            </a:extLst>
          </p:cNvPr>
          <p:cNvSpPr txBox="1"/>
          <p:nvPr/>
        </p:nvSpPr>
        <p:spPr>
          <a:xfrm>
            <a:off x="1397000" y="4699000"/>
            <a:ext cx="9398000" cy="7004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864"/>
              </a:spcAft>
            </a:pP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镜像与有用在消息域不可区分</a:t>
            </a:r>
          </a:p>
        </p:txBody>
      </p:sp>
      <p:sp>
        <p:nvSpPr>
          <p:cNvPr id="16" name="Equation3a"/>
          <p:cNvSpPr/>
          <p:nvPr/>
        </p:nvSpPr>
        <p:spPr>
          <a:xfrm>
            <a:off x="1016000" y="1498600"/>
            <a:ext cx="5080000" cy="6604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1" sz="2400">
                      <a:latin typeface="Cambria Math"/>
                    </a:rPr>
                    <m:t>s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1" sz="2400">
                      <a:latin typeface="Cambria Math"/>
                    </a:rPr>
                    <m:t>=A</m:t>
                  </m:r>
                  <m:r>
                    <a:rPr lang="en-US" i="0" sz="2400">
                      <a:latin typeface="Cambria Math"/>
                    </a:rPr>
                    <m:t>cos</m:t>
                  </m:r>
                  <m:r>
                    <a:rPr lang="en-US" i="0" sz="2400">
                      <a:latin typeface="Cambria Math"/>
                    </a:rPr>
                    <m:t>(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400">
                          <a:solidFill>
                            <a:srgbClr val="0070C0"/>
                          </a:solidFill>
                          <a:latin typeface="Cambria Math"/>
                        </a:rPr>
                        <m:t>c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t+</m:t>
                  </m:r>
                  <m:r>
                    <a:rPr lang="en-US" i="0" sz="2400">
                      <a:latin typeface="Cambria Math"/>
                    </a:rPr>
                    <m:t>β</m:t>
                  </m:r>
                  <m:r>
                    <a:rPr lang="en-US" i="0" sz="2400">
                      <a:latin typeface="Cambria Math"/>
                    </a:rPr>
                    <m:t>sin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400">
                          <a:latin typeface="Cambria Math"/>
                        </a:rPr>
                        <m:t>m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</m:oMath>
              </m:oMathPara>
            </a14:m>
          </a:p>
        </p:txBody>
      </p:sp>
      <p:sp>
        <p:nvSpPr>
          <p:cNvPr id="17" name="Equation3b"/>
          <p:cNvSpPr/>
          <p:nvPr/>
        </p:nvSpPr>
        <p:spPr>
          <a:xfrm>
            <a:off x="6096000" y="1498600"/>
            <a:ext cx="5080000" cy="6604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lang="en-US" i="1" sz="2400">
                          <a:latin typeface="Cambria Math"/>
                        </a:rPr>
                        <m:t>s</m:t>
                      </m:r>
                    </m:e>
                    <m:sub>
                      <m:r>
                        <a:rPr lang="en-US" i="1" sz="2400">
                          <a:solidFill>
                            <a:srgbClr val="FF0000"/>
                          </a:solidFill>
                          <a:latin typeface="Cambria Math"/>
                        </a:rPr>
                        <m:t>i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γ</m:t>
                  </m:r>
                  <m:r>
                    <a:rPr lang="en-US" i="1" sz="2400">
                      <a:latin typeface="Cambria Math"/>
                    </a:rPr>
                    <m:t>A</m:t>
                  </m:r>
                  <m:r>
                    <a:rPr lang="en-US" i="0" sz="2400">
                      <a:latin typeface="Cambria Math"/>
                    </a:rPr>
                    <m:t>cos</m:t>
                  </m:r>
                  <m:r>
                    <a:rPr lang="en-US" i="0" sz="2400">
                      <a:latin typeface="Cambria Math"/>
                    </a:rPr>
                    <m:t>(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400">
                          <a:solidFill>
                            <a:srgbClr val="FF0000"/>
                          </a:solidFill>
                          <a:latin typeface="Cambria Math"/>
                        </a:rPr>
                        <m:t>i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t+</m:t>
                  </m:r>
                  <m:r>
                    <a:rPr lang="en-US" i="0" sz="2400">
                      <a:latin typeface="Cambria Math"/>
                    </a:rPr>
                    <m:t>β</m:t>
                  </m:r>
                  <m:r>
                    <a:rPr lang="en-US" i="0" sz="2400">
                      <a:latin typeface="Cambria Math"/>
                    </a:rPr>
                    <m:t>sin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400">
                          <a:latin typeface="Cambria Math"/>
                        </a:rPr>
                        <m:t>m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</m:oMath>
              </m:oMathPara>
            </a14:m>
          </a:p>
        </p:txBody>
      </p:sp>
      <p:sp>
        <p:nvSpPr>
          <p:cNvPr id="18" name="Equation3c"/>
          <p:cNvSpPr/>
          <p:nvPr/>
        </p:nvSpPr>
        <p:spPr>
          <a:xfrm>
            <a:off x="3556000" y="5511800"/>
            <a:ext cx="5080000" cy="609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400">
                      <a:latin typeface="Cambria Math"/>
                    </a:rPr>
                    <m:t>−20</m:t>
                  </m:r>
                  <m:r>
                    <a:rPr lang="en-US" i="0" sz="2400">
                      <a:latin typeface="Cambria Math"/>
                    </a:rPr>
                    <m:t>lg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γ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−20</m:t>
                  </m:r>
                  <m:r>
                    <a:rPr lang="en-US" i="0" sz="2400">
                      <a:latin typeface="Cambria Math"/>
                    </a:rPr>
                    <m:t>lg</m:t>
                  </m:r>
                  <m:r>
                    <a:rPr lang="en-US" i="0" sz="2400">
                      <a:latin typeface="Cambria Math"/>
                    </a:rPr>
                    <m:t>0.25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12.04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dB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35464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8F0EEA5-5B5C-2D82-5E5E-73E5B863B4C7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预备：</a:t>
            </a:r>
            <a:r>
              <a:rPr lang="el-GR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β=4</a:t>
            </a:r>
            <a:r>
              <a:rPr lang="zh-CN" altLang="el-GR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Carson 500 Hz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C9290B0D-67C0-600B-EA4F-3995CBB097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E05DC991-C525-2754-EFE0-CCE0D6DB72B1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Lead4">
            <a:extLst>
              <a:ext uri="{FF2B5EF4-FFF2-40B4-BE49-F238E27FC236}">
                <a16:creationId xmlns:a16="http://schemas.microsoft.com/office/drawing/2014/main" id="{1794E6FD-BC98-BCDE-C880-96EB9B267F49}"/>
              </a:ext>
            </a:extLst>
          </p:cNvPr>
          <p:cNvSpPr txBox="1"/>
          <p:nvPr/>
        </p:nvSpPr>
        <p:spPr>
          <a:xfrm>
            <a:off x="762000" y="1333500"/>
            <a:ext cx="10668000" cy="6328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768"/>
              </a:spcAft>
            </a:pP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 = </a:t>
            </a:r>
            <a:r>
              <a:rPr lang="zh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相位积分 </a:t>
            </a:r>
            <a:r>
              <a:rPr lang="en-US" altLang="zh-CN" sz="32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</a:t>
            </a:r>
            <a:r>
              <a:rPr lang="zh-CN" altLang="en-US" sz="32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载波相位合成：</a:t>
            </a:r>
          </a:p>
        </p:txBody>
      </p:sp>
      <p:sp>
        <p:nvSpPr>
          <p:cNvPr id="7" name="Note4">
            <a:extLst>
              <a:ext uri="{FF2B5EF4-FFF2-40B4-BE49-F238E27FC236}">
                <a16:creationId xmlns:a16="http://schemas.microsoft.com/office/drawing/2014/main" id="{F0A2EDDA-BD18-5138-F1A7-7856BCF74CCE}"/>
              </a:ext>
            </a:extLst>
          </p:cNvPr>
          <p:cNvSpPr txBox="1"/>
          <p:nvPr/>
        </p:nvSpPr>
        <p:spPr>
          <a:xfrm>
            <a:off x="1778000" y="5486400"/>
            <a:ext cx="8636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m(t)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正弦消息；</a:t>
            </a:r>
            <a:r>
              <a:rPr lang="el-GR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 = Δ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 / f_m = 4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为调频指数</a:t>
            </a:r>
          </a:p>
        </p:txBody>
      </p:sp>
      <p:sp>
        <p:nvSpPr>
          <p:cNvPr id="8" name="Equation4a"/>
          <p:cNvSpPr/>
          <p:nvPr/>
        </p:nvSpPr>
        <p:spPr>
          <a:xfrm>
            <a:off x="1778000" y="2032000"/>
            <a:ext cx="8636000" cy="736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400">
                      <a:latin typeface="Cambria Math"/>
                      <a:ea typeface="微软雅黑"/>
                    </a:rPr>
                    <m:t>①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1" sz="2400">
                      <a:latin typeface="Cambria Math"/>
                    </a:rPr>
                    <m:t>s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1" sz="2400">
                      <a:latin typeface="Cambria Math"/>
                    </a:rPr>
                    <m:t>=A</m:t>
                  </m:r>
                  <m:r>
                    <a:rPr lang="en-US" i="0" sz="2400">
                      <a:latin typeface="Cambria Math"/>
                    </a:rPr>
                    <m:t>cos</m:t>
                  </m:r>
                  <m:r>
                    <a:rPr lang="en-US" i="0" sz="2400">
                      <a:latin typeface="Cambria Math"/>
                    </a:rPr>
                    <m:t>(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400">
                          <a:solidFill>
                            <a:srgbClr val="0070C0"/>
                          </a:solidFill>
                          <a:latin typeface="Cambria Math"/>
                        </a:rPr>
                        <m:t>c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+</m:t>
                  </m:r>
                  <m:r>
                    <a:rPr lang="en-US" i="1" sz="2400">
                      <a:solidFill>
                        <a:srgbClr val="FF0000"/>
                      </a:solidFill>
                      <a:latin typeface="Cambria Math"/>
                    </a:rPr>
                    <m:t>2πΔf∫</m:t>
                  </m:r>
                  <m:r>
                    <a:rPr lang="en-US" i="1" sz="2400">
                      <a:latin typeface="Cambria Math"/>
                    </a:rPr>
                    <m:t>m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0" sz="2400">
                      <a:latin typeface="Cambria Math"/>
                    </a:rPr>
                    <m:t>τ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1" sz="2400">
                      <a:latin typeface="Cambria Math"/>
                    </a:rPr>
                    <m:t>dτ</m:t>
                  </m:r>
                  <m:r>
                    <a:rPr lang="en-US" i="0" sz="2400">
                      <a:latin typeface="Cambria Math"/>
                    </a:rPr>
                    <m:t>)</m:t>
                  </m:r>
                </m:oMath>
              </m:oMathPara>
            </a14:m>
          </a:p>
        </p:txBody>
      </p:sp>
      <p:sp>
        <p:nvSpPr>
          <p:cNvPr id="9" name="Equation4b"/>
          <p:cNvSpPr/>
          <p:nvPr/>
        </p:nvSpPr>
        <p:spPr>
          <a:xfrm>
            <a:off x="1778000" y="3048000"/>
            <a:ext cx="8636000" cy="736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400">
                      <a:latin typeface="Cambria Math"/>
                      <a:ea typeface="微软雅黑"/>
                    </a:rPr>
                    <m:t>②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1" sz="2400">
                      <a:latin typeface="Cambria Math"/>
                    </a:rPr>
                    <m:t>m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sin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0" sz="2400">
                      <a:latin typeface="Cambria Math"/>
                    </a:rPr>
                    <m:t>2</m:t>
                  </m:r>
                  <m:r>
                    <a:rPr lang="en-US" i="0" sz="2400">
                      <a:latin typeface="Cambria Math"/>
                    </a:rPr>
                    <m:t>π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f</m:t>
                      </m:r>
                    </m:e>
                    <m:sub>
                      <m:r>
                        <a:rPr lang="en-US" i="1" sz="2400">
                          <a:latin typeface="Cambria Math"/>
                        </a:rPr>
                        <m:t>m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t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,</m:t>
                  </m:r>
                  <m:r>
                    <a:rPr lang="en-US" i="0" sz="2400">
                      <a:latin typeface="Cambria Math"/>
                    </a:rPr>
                    <m:t>  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β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Δ</m:t>
                  </m:r>
                  <m:r>
                    <a:rPr lang="en-US" i="1" sz="2400">
                      <a:latin typeface="Cambria Math"/>
                    </a:rPr>
                    <m:t>f</m:t>
                  </m:r>
                  <m:r>
                    <a:rPr lang="en-US" i="0" sz="2400">
                      <a:latin typeface="Cambria Math"/>
                    </a:rPr>
                    <m:t>/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f</m:t>
                      </m:r>
                    </m:e>
                    <m:sub>
                      <m:r>
                        <a:rPr lang="en-US" i="1" sz="2400">
                          <a:latin typeface="Cambria Math"/>
                        </a:rPr>
                        <m:t>m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4</m:t>
                  </m:r>
                </m:oMath>
              </m:oMathPara>
            </a14:m>
          </a:p>
        </p:txBody>
      </p:sp>
      <p:sp>
        <p:nvSpPr>
          <p:cNvPr id="10" name="Equation4c"/>
          <p:cNvSpPr/>
          <p:nvPr/>
        </p:nvSpPr>
        <p:spPr>
          <a:xfrm>
            <a:off x="1778000" y="3949700"/>
            <a:ext cx="8636000" cy="736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1" sz="2400">
                      <a:latin typeface="Cambria Math"/>
                    </a:rPr>
                    <m:t>B=2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0" sz="2400">
                      <a:latin typeface="Cambria Math"/>
                    </a:rPr>
                    <m:t>Δ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f+f</m:t>
                      </m:r>
                    </m:e>
                    <m:sub>
                      <m:r>
                        <a:rPr lang="en-US" i="1" sz="2400">
                          <a:latin typeface="Cambria Math"/>
                        </a:rPr>
                        <m:t>m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latin typeface="Cambria Math"/>
                    </a:rPr>
                    <m:t>=2</m:t>
                  </m:r>
                  <m:r>
                    <a:rPr lang="en-US" i="0" sz="2400">
                      <a:latin typeface="Cambria Math"/>
                    </a:rPr>
                    <m:t>×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0" sz="2400">
                      <a:latin typeface="Cambria Math"/>
                    </a:rPr>
                    <m:t>200+50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=500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Hz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  <a:ea typeface="微软雅黑"/>
                    </a:rPr>
                    <m:t>（Carson带宽）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32251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11DA79-71B7-536A-C86E-3CB17346BC16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发射机产出双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载波谱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3F86CB97-7BA4-BEB8-99F0-ACEBA4886C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4C62EAC1-1AA2-B404-8188-B7B176A0F441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Head5a">
            <a:extLst>
              <a:ext uri="{FF2B5EF4-FFF2-40B4-BE49-F238E27FC236}">
                <a16:creationId xmlns:a16="http://schemas.microsoft.com/office/drawing/2014/main" id="{E7C801F6-6D3C-5B27-8703-F68CCCE27EC7}"/>
              </a:ext>
            </a:extLst>
          </p:cNvPr>
          <p:cNvSpPr txBox="1"/>
          <p:nvPr/>
        </p:nvSpPr>
        <p:spPr>
          <a:xfrm>
            <a:off x="508000" y="1270000"/>
            <a:ext cx="6350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发射链 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18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块：镜像支路共享 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fm_phase_integrator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Head5b">
            <a:extLst>
              <a:ext uri="{FF2B5EF4-FFF2-40B4-BE49-F238E27FC236}">
                <a16:creationId xmlns:a16="http://schemas.microsoft.com/office/drawing/2014/main" id="{3BD2AE38-C24D-680C-0BAD-7C1990824331}"/>
              </a:ext>
            </a:extLst>
          </p:cNvPr>
          <p:cNvSpPr txBox="1"/>
          <p:nvPr/>
        </p:nvSpPr>
        <p:spPr>
          <a:xfrm>
            <a:off x="6921500" y="1270000"/>
            <a:ext cx="47625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双边线谱（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sim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Pic5a">
            <a:extLst>
              <a:ext uri="{FF2B5EF4-FFF2-40B4-BE49-F238E27FC236}">
                <a16:creationId xmlns:a16="http://schemas.microsoft.com/office/drawing/2014/main" id="{86B4BBB6-F750-6BB0-19A0-A47B5A66FC3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968500"/>
            <a:ext cx="6223000" cy="1701800"/>
          </a:xfrm>
          <a:prstGeom prst="rect">
            <a:avLst/>
          </a:prstGeom>
        </p:spPr>
      </p:pic>
      <p:sp>
        <p:nvSpPr>
          <p:cNvPr id="10" name="Bullets5">
            <a:extLst>
              <a:ext uri="{FF2B5EF4-FFF2-40B4-BE49-F238E27FC236}">
                <a16:creationId xmlns:a16="http://schemas.microsoft.com/office/drawing/2014/main" id="{F2A78996-E1BE-CD02-2EC9-55CF5EC46753}"/>
              </a:ext>
            </a:extLst>
          </p:cNvPr>
          <p:cNvSpPr txBox="1"/>
          <p:nvPr/>
        </p:nvSpPr>
        <p:spPr>
          <a:xfrm>
            <a:off x="508000" y="3759200"/>
            <a:ext cx="6350000" cy="12970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有用与镜像接同一相位积分器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→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同消息、同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β=4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镜像幅度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γ = 0.25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12.04 dB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2" name="Pic5b">
            <a:extLst>
              <a:ext uri="{FF2B5EF4-FFF2-40B4-BE49-F238E27FC236}">
                <a16:creationId xmlns:a16="http://schemas.microsoft.com/office/drawing/2014/main" id="{5647BBF3-7A5B-6048-9183-EAF8035A267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1778000"/>
            <a:ext cx="4762500" cy="3098800"/>
          </a:xfrm>
          <a:prstGeom prst="rect">
            <a:avLst/>
          </a:prstGeom>
        </p:spPr>
      </p:pic>
      <p:sp>
        <p:nvSpPr>
          <p:cNvPr id="13" name="Note5b">
            <a:extLst>
              <a:ext uri="{FF2B5EF4-FFF2-40B4-BE49-F238E27FC236}">
                <a16:creationId xmlns:a16="http://schemas.microsoft.com/office/drawing/2014/main" id="{1C33FD95-31B5-62E7-203B-681DDD586D24}"/>
              </a:ext>
            </a:extLst>
          </p:cNvPr>
          <p:cNvSpPr txBox="1"/>
          <p:nvPr/>
        </p:nvSpPr>
        <p:spPr>
          <a:xfrm>
            <a:off x="6921500" y="5003800"/>
            <a:ext cx="4762500" cy="3963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32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Carson 500 Hz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；镜像线低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12.04 dB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Take5">
            <a:extLst>
              <a:ext uri="{FF2B5EF4-FFF2-40B4-BE49-F238E27FC236}">
                <a16:creationId xmlns:a16="http://schemas.microsoft.com/office/drawing/2014/main" id="{A345B937-222F-C260-7855-595EB713EDDE}"/>
              </a:ext>
            </a:extLst>
          </p:cNvPr>
          <p:cNvSpPr txBox="1"/>
          <p:nvPr/>
        </p:nvSpPr>
        <p:spPr>
          <a:xfrm>
            <a:off x="1651000" y="5461000"/>
            <a:ext cx="889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镜像与有用同源同 </a:t>
            </a:r>
            <a:r>
              <a:rPr lang="en-US" altLang="zh-CN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β —— </a:t>
            </a: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发射机内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注定难分</a:t>
            </a:r>
          </a:p>
        </p:txBody>
      </p:sp>
    </p:spTree>
    <p:extLst>
      <p:ext uri="{BB962C8B-B14F-4D97-AF65-F5344CB8AC3E}">
        <p14:creationId xmlns:p14="http://schemas.microsoft.com/office/powerpoint/2010/main" val="54438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51681-3E49-0083-55FD-7F91C06BA8AF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四道防线全景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E32BBCB5-8D65-03C8-F910-6CE5E9123A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C95A425E-739D-7E69-3181-9759FBB6101B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" name="Pic6b">
            <a:extLst>
              <a:ext uri="{FF2B5EF4-FFF2-40B4-BE49-F238E27FC236}">
                <a16:creationId xmlns:a16="http://schemas.microsoft.com/office/drawing/2014/main" id="{0587437F-8A27-690F-4991-80397EB03A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371600"/>
            <a:ext cx="10160000" cy="3086100"/>
          </a:xfrm>
          <a:prstGeom prst="rect">
            <a:avLst/>
          </a:prstGeom>
        </p:spPr>
      </p:pic>
      <p:sp>
        <p:nvSpPr>
          <p:cNvPr id="8" name="KeyBoxLO">
            <a:extLst>
              <a:ext uri="{FF2B5EF4-FFF2-40B4-BE49-F238E27FC236}">
                <a16:creationId xmlns:a16="http://schemas.microsoft.com/office/drawing/2014/main" id="{BAFEB3DF-B0FC-B2A6-3B98-0AC11521028F}"/>
              </a:ext>
            </a:extLst>
          </p:cNvPr>
          <p:cNvSpPr/>
          <p:nvPr/>
        </p:nvSpPr>
        <p:spPr>
          <a:xfrm>
            <a:off x="8255000" y="1473200"/>
            <a:ext cx="29210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LO1 + LO2 = fc = 1000 Hz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Chip6a">
            <a:extLst>
              <a:ext uri="{FF2B5EF4-FFF2-40B4-BE49-F238E27FC236}">
                <a16:creationId xmlns:a16="http://schemas.microsoft.com/office/drawing/2014/main" id="{077361AA-1BEF-6910-6F1C-A154CC53D1E0}"/>
              </a:ext>
            </a:extLst>
          </p:cNvPr>
          <p:cNvSpPr/>
          <p:nvPr/>
        </p:nvSpPr>
        <p:spPr>
          <a:xfrm>
            <a:off x="1524000" y="4521200"/>
            <a:ext cx="139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① 复混频</a:t>
            </a:r>
          </a:p>
        </p:txBody>
      </p:sp>
      <p:sp>
        <p:nvSpPr>
          <p:cNvPr id="10" name="Chip6b">
            <a:extLst>
              <a:ext uri="{FF2B5EF4-FFF2-40B4-BE49-F238E27FC236}">
                <a16:creationId xmlns:a16="http://schemas.microsoft.com/office/drawing/2014/main" id="{D187C3B7-1DD8-F290-86D3-3F239D2F6AE5}"/>
              </a:ext>
            </a:extLst>
          </p:cNvPr>
          <p:cNvSpPr/>
          <p:nvPr/>
        </p:nvSpPr>
        <p:spPr>
          <a:xfrm>
            <a:off x="4064000" y="4521200"/>
            <a:ext cx="139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b="1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② 旋转</a:t>
            </a:r>
          </a:p>
        </p:txBody>
      </p:sp>
      <p:sp>
        <p:nvSpPr>
          <p:cNvPr id="11" name="Chip6c">
            <a:extLst>
              <a:ext uri="{FF2B5EF4-FFF2-40B4-BE49-F238E27FC236}">
                <a16:creationId xmlns:a16="http://schemas.microsoft.com/office/drawing/2014/main" id="{D83A4B7C-716A-4AB7-1193-1D62D6FAAA3D}"/>
              </a:ext>
            </a:extLst>
          </p:cNvPr>
          <p:cNvSpPr/>
          <p:nvPr/>
        </p:nvSpPr>
        <p:spPr>
          <a:xfrm>
            <a:off x="6604000" y="4521200"/>
            <a:ext cx="139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F6C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b="1">
                <a:solidFill>
                  <a:srgbClr val="DF6C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③ 基带滤波</a:t>
            </a:r>
          </a:p>
        </p:txBody>
      </p:sp>
      <p:sp>
        <p:nvSpPr>
          <p:cNvPr id="12" name="Chip6d">
            <a:extLst>
              <a:ext uri="{FF2B5EF4-FFF2-40B4-BE49-F238E27FC236}">
                <a16:creationId xmlns:a16="http://schemas.microsoft.com/office/drawing/2014/main" id="{D6D0C523-28B8-C5A4-9D0C-9380503C03B2}"/>
              </a:ext>
            </a:extLst>
          </p:cNvPr>
          <p:cNvSpPr/>
          <p:nvPr/>
        </p:nvSpPr>
        <p:spPr>
          <a:xfrm>
            <a:off x="9144000" y="4521200"/>
            <a:ext cx="1397000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b="1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④ 鉴频</a:t>
            </a:r>
          </a:p>
        </p:txBody>
      </p:sp>
      <p:sp>
        <p:nvSpPr>
          <p:cNvPr id="13" name="Box6T">
            <a:extLst>
              <a:ext uri="{FF2B5EF4-FFF2-40B4-BE49-F238E27FC236}">
                <a16:creationId xmlns:a16="http://schemas.microsoft.com/office/drawing/2014/main" id="{194DB0A3-FF9B-7192-234D-1E95AAAA86FB}"/>
              </a:ext>
            </a:extLst>
          </p:cNvPr>
          <p:cNvSpPr/>
          <p:nvPr/>
        </p:nvSpPr>
        <p:spPr>
          <a:xfrm>
            <a:off x="685800" y="5118100"/>
            <a:ext cx="8763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4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18 </a:t>
            </a:r>
            <a:r>
              <a:rPr lang="zh-CN" altLang="en-US" sz="14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</a:t>
            </a:r>
          </a:p>
        </p:txBody>
      </p:sp>
      <p:sp>
        <p:nvSpPr>
          <p:cNvPr id="14" name="Box6R">
            <a:extLst>
              <a:ext uri="{FF2B5EF4-FFF2-40B4-BE49-F238E27FC236}">
                <a16:creationId xmlns:a16="http://schemas.microsoft.com/office/drawing/2014/main" id="{F629BCA1-4421-C09B-7683-86B404AF6865}"/>
              </a:ext>
            </a:extLst>
          </p:cNvPr>
          <p:cNvSpPr/>
          <p:nvPr/>
        </p:nvSpPr>
        <p:spPr>
          <a:xfrm>
            <a:off x="2247900" y="5118100"/>
            <a:ext cx="10287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14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 </a:t>
            </a:r>
            <a:r>
              <a:rPr lang="zh-CN" altLang="en-US" sz="140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</a:t>
            </a:r>
          </a:p>
        </p:txBody>
      </p:sp>
      <p:sp>
        <p:nvSpPr>
          <p:cNvPr id="15" name="Arrow6a">
            <a:extLst>
              <a:ext uri="{FF2B5EF4-FFF2-40B4-BE49-F238E27FC236}">
                <a16:creationId xmlns:a16="http://schemas.microsoft.com/office/drawing/2014/main" id="{DF19CABB-18A2-1AD4-988A-3AE7009645D6}"/>
              </a:ext>
            </a:extLst>
          </p:cNvPr>
          <p:cNvSpPr/>
          <p:nvPr/>
        </p:nvSpPr>
        <p:spPr>
          <a:xfrm>
            <a:off x="1562100" y="5283200"/>
            <a:ext cx="685800" cy="50800"/>
          </a:xfrm>
          <a:prstGeom prst="right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6" name="Arrow6b">
            <a:extLst>
              <a:ext uri="{FF2B5EF4-FFF2-40B4-BE49-F238E27FC236}">
                <a16:creationId xmlns:a16="http://schemas.microsoft.com/office/drawing/2014/main" id="{CAD52452-6D4C-F1AB-99C5-8A88C646CBE3}"/>
              </a:ext>
            </a:extLst>
          </p:cNvPr>
          <p:cNvSpPr/>
          <p:nvPr/>
        </p:nvSpPr>
        <p:spPr>
          <a:xfrm>
            <a:off x="1562100" y="5562600"/>
            <a:ext cx="685800" cy="50800"/>
          </a:xfrm>
          <a:prstGeom prst="right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7" name="Port6a">
            <a:extLst>
              <a:ext uri="{FF2B5EF4-FFF2-40B4-BE49-F238E27FC236}">
                <a16:creationId xmlns:a16="http://schemas.microsoft.com/office/drawing/2014/main" id="{EAFFDB62-290B-57CB-C477-84B74CA2A032}"/>
              </a:ext>
            </a:extLst>
          </p:cNvPr>
          <p:cNvSpPr txBox="1"/>
          <p:nvPr/>
        </p:nvSpPr>
        <p:spPr>
          <a:xfrm>
            <a:off x="1600200" y="5054600"/>
            <a:ext cx="203200" cy="2945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288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Port6b">
            <a:extLst>
              <a:ext uri="{FF2B5EF4-FFF2-40B4-BE49-F238E27FC236}">
                <a16:creationId xmlns:a16="http://schemas.microsoft.com/office/drawing/2014/main" id="{6481671E-C495-E58C-FD91-0BCAD20011FA}"/>
              </a:ext>
            </a:extLst>
          </p:cNvPr>
          <p:cNvSpPr txBox="1"/>
          <p:nvPr/>
        </p:nvSpPr>
        <p:spPr>
          <a:xfrm>
            <a:off x="1600200" y="5334000"/>
            <a:ext cx="203200" cy="2945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288"/>
              </a:spcAft>
            </a:pP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endParaRPr lang="zh-CN" altLang="en-US" sz="12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Label6T">
            <a:extLst>
              <a:ext uri="{FF2B5EF4-FFF2-40B4-BE49-F238E27FC236}">
                <a16:creationId xmlns:a16="http://schemas.microsoft.com/office/drawing/2014/main" id="{DDAA5F35-0813-1A20-E69D-E13AAB4CCFD8}"/>
              </a:ext>
            </a:extLst>
          </p:cNvPr>
          <p:cNvSpPr txBox="1"/>
          <p:nvPr/>
        </p:nvSpPr>
        <p:spPr>
          <a:xfrm>
            <a:off x="127000" y="5918200"/>
            <a:ext cx="1651000" cy="3283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36"/>
              </a:spcAft>
            </a:pP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FM_Transmitter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Label6R">
            <a:extLst>
              <a:ext uri="{FF2B5EF4-FFF2-40B4-BE49-F238E27FC236}">
                <a16:creationId xmlns:a16="http://schemas.microsoft.com/office/drawing/2014/main" id="{D361E0E6-EBD8-9E65-E2C5-336A6BADF1EF}"/>
              </a:ext>
            </a:extLst>
          </p:cNvPr>
          <p:cNvSpPr txBox="1"/>
          <p:nvPr/>
        </p:nvSpPr>
        <p:spPr>
          <a:xfrm>
            <a:off x="1841500" y="5918200"/>
            <a:ext cx="2032000" cy="3283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336"/>
              </a:spcAft>
            </a:pP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Weaver_FM_Receiver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Bullets6">
            <a:extLst>
              <a:ext uri="{FF2B5EF4-FFF2-40B4-BE49-F238E27FC236}">
                <a16:creationId xmlns:a16="http://schemas.microsoft.com/office/drawing/2014/main" id="{FD82D016-9D92-AC90-4E9E-32BF85C21645}"/>
              </a:ext>
            </a:extLst>
          </p:cNvPr>
          <p:cNvSpPr txBox="1"/>
          <p:nvPr/>
        </p:nvSpPr>
        <p:spPr>
          <a:xfrm>
            <a:off x="4064000" y="5181599"/>
            <a:ext cx="3429000" cy="1016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FM_Transmitter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18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Weaver_FM_Receiver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块</a:t>
            </a:r>
          </a:p>
        </p:txBody>
      </p:sp>
      <p:sp>
        <p:nvSpPr>
          <p:cNvPr id="22" name="Take6">
            <a:extLst>
              <a:ext uri="{FF2B5EF4-FFF2-40B4-BE49-F238E27FC236}">
                <a16:creationId xmlns:a16="http://schemas.microsoft.com/office/drawing/2014/main" id="{044B0274-9401-7A6E-B8BA-1D9F5FA156D3}"/>
              </a:ext>
            </a:extLst>
          </p:cNvPr>
          <p:cNvSpPr txBox="1"/>
          <p:nvPr/>
        </p:nvSpPr>
        <p:spPr>
          <a:xfrm>
            <a:off x="7620000" y="5181600"/>
            <a:ext cx="4064000" cy="9343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四道防线，各答一问：</a:t>
            </a:r>
          </a:p>
          <a:p>
            <a:pPr algn="ctr"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</a:t>
            </a: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此刻去哪了？</a:t>
            </a:r>
          </a:p>
        </p:txBody>
      </p:sp>
    </p:spTree>
    <p:extLst>
      <p:ext uri="{BB962C8B-B14F-4D97-AF65-F5344CB8AC3E}">
        <p14:creationId xmlns:p14="http://schemas.microsoft.com/office/powerpoint/2010/main" val="421221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588D83C-F173-39CE-0B62-2BEC36D4CD88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防线①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(1/4)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：复混频分离正负谱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0B1E82E1-9EF0-16B9-81BE-80A0CCEF60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161E1382-5899-BD4C-6697-91A00FDD36B9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Chip7">
            <a:extLst>
              <a:ext uri="{FF2B5EF4-FFF2-40B4-BE49-F238E27FC236}">
                <a16:creationId xmlns:a16="http://schemas.microsoft.com/office/drawing/2014/main" id="{65892D51-454A-488D-D123-250D481FE2E4}"/>
              </a:ext>
            </a:extLst>
          </p:cNvPr>
          <p:cNvSpPr txBox="1"/>
          <p:nvPr/>
        </p:nvSpPr>
        <p:spPr>
          <a:xfrm>
            <a:off x="508000" y="1244600"/>
            <a:ext cx="1397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 ①</a:t>
            </a:r>
          </a:p>
        </p:txBody>
      </p:sp>
      <p:sp>
        <p:nvSpPr>
          <p:cNvPr id="7" name="Lead7">
            <a:extLst>
              <a:ext uri="{FF2B5EF4-FFF2-40B4-BE49-F238E27FC236}">
                <a16:creationId xmlns:a16="http://schemas.microsoft.com/office/drawing/2014/main" id="{24E1A5EB-033F-7DC0-38DF-EF4A817DF8E8}"/>
              </a:ext>
            </a:extLst>
          </p:cNvPr>
          <p:cNvSpPr txBox="1"/>
          <p:nvPr/>
        </p:nvSpPr>
        <p:spPr>
          <a:xfrm>
            <a:off x="508000" y="1701800"/>
            <a:ext cx="5588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复数混频，正负谱分居两侧：</a:t>
            </a:r>
          </a:p>
        </p:txBody>
      </p:sp>
      <p:sp>
        <p:nvSpPr>
          <p:cNvPr id="8" name="Bullets7">
            <a:extLst>
              <a:ext uri="{FF2B5EF4-FFF2-40B4-BE49-F238E27FC236}">
                <a16:creationId xmlns:a16="http://schemas.microsoft.com/office/drawing/2014/main" id="{6FBA9E8C-357F-DF6E-1A01-3E24F7520555}"/>
              </a:ext>
            </a:extLst>
          </p:cNvPr>
          <p:cNvSpPr txBox="1"/>
          <p:nvPr/>
        </p:nvSpPr>
        <p:spPr>
          <a:xfrm>
            <a:off x="508000" y="3759199"/>
            <a:ext cx="5588000" cy="157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LO1 = 600 Hz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mixerGain = 2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补偿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½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损耗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IF LPF 700 Hz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口径：四极点级联，</a:t>
            </a:r>
            <a:r>
              <a:rPr lang="zh-CN" altLang="en-US" sz="20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3dB = 562 Hz</a:t>
            </a:r>
            <a:endParaRPr lang="zh-CN" altLang="en-US" sz="20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Take7">
            <a:extLst>
              <a:ext uri="{FF2B5EF4-FFF2-40B4-BE49-F238E27FC236}">
                <a16:creationId xmlns:a16="http://schemas.microsoft.com/office/drawing/2014/main" id="{4F5DCC44-7496-FCDB-2B0E-E2CA625CBD25}"/>
              </a:ext>
            </a:extLst>
          </p:cNvPr>
          <p:cNvSpPr txBox="1"/>
          <p:nvPr/>
        </p:nvSpPr>
        <p:spPr>
          <a:xfrm>
            <a:off x="508000" y="5461000"/>
            <a:ext cx="5588000" cy="4639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镜像落到 </a:t>
            </a:r>
            <a:r>
              <a:rPr lang="zh-CN" altLang="en-US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400 Hz</a:t>
            </a:r>
            <a:endParaRPr lang="zh-CN" altLang="en-US" sz="22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1" name="Pic7">
            <a:extLst>
              <a:ext uri="{FF2B5EF4-FFF2-40B4-BE49-F238E27FC236}">
                <a16:creationId xmlns:a16="http://schemas.microsoft.com/office/drawing/2014/main" id="{740AA078-C7BE-ADF0-49BD-E3B03FAD88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97000"/>
            <a:ext cx="5588000" cy="4368800"/>
          </a:xfrm>
          <a:prstGeom prst="rect">
            <a:avLst/>
          </a:prstGeom>
        </p:spPr>
      </p:pic>
      <p:sp>
        <p:nvSpPr>
          <p:cNvPr id="12" name="Note7">
            <a:extLst>
              <a:ext uri="{FF2B5EF4-FFF2-40B4-BE49-F238E27FC236}">
                <a16:creationId xmlns:a16="http://schemas.microsoft.com/office/drawing/2014/main" id="{2EC57785-02FE-72FA-383A-4F26110A082A}"/>
              </a:ext>
            </a:extLst>
          </p:cNvPr>
          <p:cNvSpPr txBox="1"/>
          <p:nvPr/>
        </p:nvSpPr>
        <p:spPr>
          <a:xfrm>
            <a:off x="6096000" y="5867400"/>
            <a:ext cx="5588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Stage1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：混频 →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IF LPF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700 Hz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口径）</a:t>
            </a:r>
          </a:p>
        </p:txBody>
      </p:sp>
      <p:sp>
        <p:nvSpPr>
          <p:cNvPr id="13" name="Equation7a"/>
          <p:cNvSpPr/>
          <p:nvPr/>
        </p:nvSpPr>
        <p:spPr>
          <a:xfrm>
            <a:off x="508000" y="2209800"/>
            <a:ext cx="5588000" cy="6858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lang="en-US" i="1" sz="2600">
                          <a:latin typeface="Cambria Math"/>
                        </a:rPr>
                        <m:t>z</m:t>
                      </m:r>
                    </m:e>
                    <m:sub>
                      <m:r>
                        <a:rPr lang="en-US" i="0" sz="2600">
                          <a:latin typeface="Cambria Math"/>
                        </a:rPr>
                        <m:t>1=</m:t>
                      </m:r>
                    </m:sub>
                  </m:sSub>
                  <m:r>
                    <a:rPr lang="en-US" i="0" sz="2600">
                      <a:latin typeface="Cambria Math"/>
                    </a:rPr>
                    <m:t>LPF</m:t>
                  </m:r>
                  <m:r>
                    <a:rPr lang="en-US" i="0" sz="2600">
                      <a:latin typeface="Cambria Math"/>
                    </a:rPr>
                    <m:t>[</m:t>
                  </m:r>
                  <m:r>
                    <a:rPr lang="en-US" i="0" sz="2600">
                      <a:latin typeface="Cambria Math"/>
                    </a:rPr>
                    <m:t> </m:t>
                  </m:r>
                  <m:r>
                    <a:rPr lang="en-US" i="1" sz="2600">
                      <a:latin typeface="Cambria Math"/>
                    </a:rPr>
                    <m:t>r</m:t>
                  </m:r>
                  <m:r>
                    <a:rPr lang="en-US" i="0" sz="2600">
                      <a:latin typeface="Cambria Math"/>
                    </a:rPr>
                    <m:t>·</m:t>
                  </m:r>
                  <m:sSup>
                    <m:e>
                      <m:r>
                        <a:rPr lang="en-US" i="1" sz="2600">
                          <a:latin typeface="Cambria Math"/>
                        </a:rPr>
                        <m:t>2e</m:t>
                      </m:r>
                    </m:e>
                    <m:sup>
                      <m:r>
                        <a:rPr lang="en-US" i="1" sz="2600">
                          <a:solidFill>
                            <a:srgbClr val="FF0000"/>
                          </a:solidFill>
                          <a:latin typeface="Cambria Math"/>
                        </a:rPr>
                        <m:t>−j</m:t>
                      </m:r>
                      <m:sSub>
                        <m:e>
                          <m:r>
                            <a:rPr lang="en-US" i="0" sz="2600"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i="0" sz="26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 sz="2600">
                          <a:latin typeface="Cambria Math"/>
                        </a:rPr>
                        <m:t>t</m:t>
                      </m:r>
                    </m:sup>
                  </m:sSup>
                  <m:r>
                    <a:rPr lang="en-US" i="0" sz="2600">
                      <a:latin typeface="Cambria Math"/>
                    </a:rPr>
                    <m:t> </m:t>
                  </m:r>
                  <m:r>
                    <a:rPr lang="en-US" i="0" sz="2600">
                      <a:latin typeface="Cambria Math"/>
                    </a:rPr>
                    <m:t>]</m:t>
                  </m:r>
                </m:oMath>
              </m:oMathPara>
            </a14:m>
          </a:p>
        </p:txBody>
      </p:sp>
      <p:sp>
        <p:nvSpPr>
          <p:cNvPr id="14" name="Equation7b"/>
          <p:cNvSpPr/>
          <p:nvPr/>
        </p:nvSpPr>
        <p:spPr>
          <a:xfrm>
            <a:off x="508000" y="2997200"/>
            <a:ext cx="5588000" cy="609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1000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Hz</m:t>
                  </m:r>
                  <m:r>
                    <a:rPr lang="en-US" i="0" sz="2400">
                      <a:latin typeface="Cambria Math"/>
                    </a:rPr>
                    <m:t>→</m:t>
                  </m:r>
                  <m:r>
                    <a:rPr lang="en-US" i="0" sz="2400">
                      <a:solidFill>
                        <a:srgbClr val="FF0000"/>
                      </a:solidFill>
                      <a:latin typeface="Cambria Math"/>
                    </a:rPr>
                    <m:t>+400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,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solidFill>
                        <a:srgbClr val="0070C0"/>
                      </a:solidFill>
                      <a:latin typeface="Cambria Math"/>
                    </a:rPr>
                    <m:t>200</m:t>
                  </m:r>
                  <m:r>
                    <a:rPr lang="en-US" i="0" sz="2400">
                      <a:latin typeface="Cambria Math"/>
                    </a:rPr>
                    <m:t> </m:t>
                  </m:r>
                  <m:r>
                    <a:rPr lang="en-US" i="0" sz="2400">
                      <a:latin typeface="Cambria Math"/>
                    </a:rPr>
                    <m:t>Hz</m:t>
                  </m:r>
                  <m:r>
                    <a:rPr lang="en-US" i="0" sz="2400">
                      <a:latin typeface="Cambria Math"/>
                    </a:rPr>
                    <m:t>→</m:t>
                  </m:r>
                  <m:r>
                    <a:rPr lang="en-US" i="0" sz="2400">
                      <a:solidFill>
                        <a:srgbClr val="0070C0"/>
                      </a:solidFill>
                      <a:latin typeface="Cambria Math"/>
                    </a:rPr>
                    <m:t>−400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11636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10BD83D-AC70-AE57-83BA-32A1BBA221F2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z1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证据：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±400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分居、环带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±52.3%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CC8A96C8-80BF-4C4B-6E5E-AEBD855418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6BE526E6-6B86-7040-AA8D-568855848CEB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Head8a">
            <a:extLst>
              <a:ext uri="{FF2B5EF4-FFF2-40B4-BE49-F238E27FC236}">
                <a16:creationId xmlns:a16="http://schemas.microsoft.com/office/drawing/2014/main" id="{D4F21813-E02C-3281-BD74-3F80E41FD11D}"/>
              </a:ext>
            </a:extLst>
          </p:cNvPr>
          <p:cNvSpPr txBox="1"/>
          <p:nvPr/>
        </p:nvSpPr>
        <p:spPr>
          <a:xfrm>
            <a:off x="1016000" y="1270000"/>
            <a:ext cx="5588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z1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双边谱：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+400 / −400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Head8b">
            <a:extLst>
              <a:ext uri="{FF2B5EF4-FFF2-40B4-BE49-F238E27FC236}">
                <a16:creationId xmlns:a16="http://schemas.microsoft.com/office/drawing/2014/main" id="{6E13B879-14E8-0AA4-3AE7-B29E9906FF0D}"/>
              </a:ext>
            </a:extLst>
          </p:cNvPr>
          <p:cNvSpPr txBox="1"/>
          <p:nvPr/>
        </p:nvSpPr>
        <p:spPr>
          <a:xfrm>
            <a:off x="7239000" y="1270000"/>
            <a:ext cx="3302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z1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星座：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A(1±</a:t>
            </a:r>
            <a:r>
              <a:rPr lang="el-GR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γ)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环带</a:t>
            </a:r>
          </a:p>
        </p:txBody>
      </p:sp>
      <p:pic>
        <p:nvPicPr>
          <p:cNvPr id="9" name="Pic8a">
            <a:extLst>
              <a:ext uri="{FF2B5EF4-FFF2-40B4-BE49-F238E27FC236}">
                <a16:creationId xmlns:a16="http://schemas.microsoft.com/office/drawing/2014/main" id="{0314DBEE-3722-52F4-BB85-23634D7E019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727200"/>
            <a:ext cx="5588000" cy="3314700"/>
          </a:xfrm>
          <a:prstGeom prst="rect">
            <a:avLst/>
          </a:prstGeom>
        </p:spPr>
      </p:pic>
      <p:pic>
        <p:nvPicPr>
          <p:cNvPr id="11" name="Pic8b">
            <a:extLst>
              <a:ext uri="{FF2B5EF4-FFF2-40B4-BE49-F238E27FC236}">
                <a16:creationId xmlns:a16="http://schemas.microsoft.com/office/drawing/2014/main" id="{CB650092-9B22-15E1-7195-B3F32B282ED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727200"/>
            <a:ext cx="3302000" cy="3352800"/>
          </a:xfrm>
          <a:prstGeom prst="rect">
            <a:avLst/>
          </a:prstGeom>
        </p:spPr>
      </p:pic>
      <p:sp>
        <p:nvSpPr>
          <p:cNvPr id="12" name="Note8a">
            <a:extLst>
              <a:ext uri="{FF2B5EF4-FFF2-40B4-BE49-F238E27FC236}">
                <a16:creationId xmlns:a16="http://schemas.microsoft.com/office/drawing/2014/main" id="{C8AF3110-BF67-9A17-4127-D40ADB7C492F}"/>
              </a:ext>
            </a:extLst>
          </p:cNvPr>
          <p:cNvSpPr txBox="1"/>
          <p:nvPr/>
        </p:nvSpPr>
        <p:spPr>
          <a:xfrm>
            <a:off x="1016000" y="5257800"/>
            <a:ext cx="5588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复谱正负分离已被仿真证实</a:t>
            </a:r>
          </a:p>
        </p:txBody>
      </p:sp>
      <p:sp>
        <p:nvSpPr>
          <p:cNvPr id="13" name="Note8b">
            <a:extLst>
              <a:ext uri="{FF2B5EF4-FFF2-40B4-BE49-F238E27FC236}">
                <a16:creationId xmlns:a16="http://schemas.microsoft.com/office/drawing/2014/main" id="{638CABD6-F8C7-5728-5DCC-BA630E3A3817}"/>
              </a:ext>
            </a:extLst>
          </p:cNvPr>
          <p:cNvSpPr txBox="1"/>
          <p:nvPr/>
        </p:nvSpPr>
        <p:spPr>
          <a:xfrm>
            <a:off x="7239000" y="5207000"/>
            <a:ext cx="3302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±52.3%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（含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倾斜）</a:t>
            </a:r>
          </a:p>
        </p:txBody>
      </p:sp>
      <p:sp>
        <p:nvSpPr>
          <p:cNvPr id="14" name="Take8">
            <a:extLst>
              <a:ext uri="{FF2B5EF4-FFF2-40B4-BE49-F238E27FC236}">
                <a16:creationId xmlns:a16="http://schemas.microsoft.com/office/drawing/2014/main" id="{6C57ADAF-571D-079D-8047-801589D3467A}"/>
              </a:ext>
            </a:extLst>
          </p:cNvPr>
          <p:cNvSpPr txBox="1"/>
          <p:nvPr/>
        </p:nvSpPr>
        <p:spPr>
          <a:xfrm>
            <a:off x="1651000" y="5740400"/>
            <a:ext cx="8890000" cy="4639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镜像与有用已</a:t>
            </a:r>
            <a:r>
              <a:rPr lang="zh-CN" altLang="en-US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分居正负半轴</a:t>
            </a:r>
          </a:p>
        </p:txBody>
      </p:sp>
    </p:spTree>
    <p:extLst>
      <p:ext uri="{BB962C8B-B14F-4D97-AF65-F5344CB8AC3E}">
        <p14:creationId xmlns:p14="http://schemas.microsoft.com/office/powerpoint/2010/main" val="173540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6D0F7B-82DB-AC85-1EEB-6C9ECB6910F1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防线②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(2/4)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：旋转推镜像至 −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800 Hz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71E7F634-F77E-9FC6-18AF-E1B16A1FFB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3655184B-F2EB-9242-A6BC-2EAF6560D5DE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Chip9">
            <a:extLst>
              <a:ext uri="{FF2B5EF4-FFF2-40B4-BE49-F238E27FC236}">
                <a16:creationId xmlns:a16="http://schemas.microsoft.com/office/drawing/2014/main" id="{DE64952F-E41C-5326-1451-C9126DE73B65}"/>
              </a:ext>
            </a:extLst>
          </p:cNvPr>
          <p:cNvSpPr txBox="1"/>
          <p:nvPr/>
        </p:nvSpPr>
        <p:spPr>
          <a:xfrm>
            <a:off x="508000" y="1244600"/>
            <a:ext cx="1397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 ②</a:t>
            </a:r>
          </a:p>
        </p:txBody>
      </p:sp>
      <p:sp>
        <p:nvSpPr>
          <p:cNvPr id="7" name="Lead9">
            <a:extLst>
              <a:ext uri="{FF2B5EF4-FFF2-40B4-BE49-F238E27FC236}">
                <a16:creationId xmlns:a16="http://schemas.microsoft.com/office/drawing/2014/main" id="{7024031D-8129-20E2-E5B4-87E92C7F61D5}"/>
              </a:ext>
            </a:extLst>
          </p:cNvPr>
          <p:cNvSpPr txBox="1"/>
          <p:nvPr/>
        </p:nvSpPr>
        <p:spPr>
          <a:xfrm>
            <a:off x="508000" y="1701800"/>
            <a:ext cx="6223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二次旋转，把有用旋到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DC</a:t>
            </a: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8" name="RowPanel9">
            <a:extLst>
              <a:ext uri="{FF2B5EF4-FFF2-40B4-BE49-F238E27FC236}">
                <a16:creationId xmlns:a16="http://schemas.microsoft.com/office/drawing/2014/main" id="{C6E61CF0-97D4-1046-71A1-4DA5B55A5542}"/>
              </a:ext>
            </a:extLst>
          </p:cNvPr>
          <p:cNvSpPr/>
          <p:nvPr/>
        </p:nvSpPr>
        <p:spPr>
          <a:xfrm>
            <a:off x="762000" y="2667000"/>
            <a:ext cx="5588000" cy="198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Bullets9">
            <a:extLst>
              <a:ext uri="{FF2B5EF4-FFF2-40B4-BE49-F238E27FC236}">
                <a16:creationId xmlns:a16="http://schemas.microsoft.com/office/drawing/2014/main" id="{2183FB32-7655-7EFF-C727-B3B7D9566A5C}"/>
              </a:ext>
            </a:extLst>
          </p:cNvPr>
          <p:cNvSpPr txBox="1"/>
          <p:nvPr/>
        </p:nvSpPr>
        <p:spPr>
          <a:xfrm>
            <a:off x="508000" y="4749800"/>
            <a:ext cx="6223000" cy="8636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4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乘法器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+ 2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合路，符号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[++] / [−+]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LO2 = 400 Hz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mixerGain = 2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Take9">
            <a:extLst>
              <a:ext uri="{FF2B5EF4-FFF2-40B4-BE49-F238E27FC236}">
                <a16:creationId xmlns:a16="http://schemas.microsoft.com/office/drawing/2014/main" id="{F7272E9F-2D64-8549-E359-D650540A3556}"/>
              </a:ext>
            </a:extLst>
          </p:cNvPr>
          <p:cNvSpPr txBox="1"/>
          <p:nvPr/>
        </p:nvSpPr>
        <p:spPr>
          <a:xfrm>
            <a:off x="508000" y="5715000"/>
            <a:ext cx="6223000" cy="4639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有用旋到 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DC</a:t>
            </a: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，镜像被推至 </a:t>
            </a:r>
            <a:r>
              <a:rPr lang="zh-CN" altLang="en-US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800 Hz</a:t>
            </a:r>
            <a:endParaRPr lang="zh-CN" altLang="en-US" sz="22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2" name="Pic9">
            <a:extLst>
              <a:ext uri="{FF2B5EF4-FFF2-40B4-BE49-F238E27FC236}">
                <a16:creationId xmlns:a16="http://schemas.microsoft.com/office/drawing/2014/main" id="{0BB519A8-4AA7-AA9D-9874-02775F828F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00" y="1346200"/>
            <a:ext cx="4851400" cy="4597400"/>
          </a:xfrm>
          <a:prstGeom prst="rect">
            <a:avLst/>
          </a:prstGeom>
        </p:spPr>
      </p:pic>
      <p:sp>
        <p:nvSpPr>
          <p:cNvPr id="13" name="Note9">
            <a:extLst>
              <a:ext uri="{FF2B5EF4-FFF2-40B4-BE49-F238E27FC236}">
                <a16:creationId xmlns:a16="http://schemas.microsoft.com/office/drawing/2014/main" id="{A1F99684-6273-EFB0-CAA5-58EF40D300B0}"/>
              </a:ext>
            </a:extLst>
          </p:cNvPr>
          <p:cNvSpPr txBox="1"/>
          <p:nvPr/>
        </p:nvSpPr>
        <p:spPr>
          <a:xfrm>
            <a:off x="6832600" y="5918200"/>
            <a:ext cx="48514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Stage2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乘法器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+ 2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合路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+ 2 LPF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Equation9a"/>
          <p:cNvSpPr/>
          <p:nvPr/>
        </p:nvSpPr>
        <p:spPr>
          <a:xfrm>
            <a:off x="914400" y="2794000"/>
            <a:ext cx="5283200" cy="609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lang="en-US" i="1" sz="2600">
                          <a:latin typeface="Cambria Math"/>
                        </a:rPr>
                        <m:t>z</m:t>
                      </m:r>
                    </m:e>
                    <m:sub>
                      <m:r>
                        <a:rPr lang="en-US" i="0" sz="2600">
                          <a:latin typeface="Cambria Math"/>
                        </a:rPr>
                        <m:t>2</m:t>
                      </m:r>
                    </m:sub>
                  </m:sSub>
                  <m:r>
                    <a:rPr lang="en-US" i="0" sz="2600">
                      <a:latin typeface="Cambria Math"/>
                    </a:rPr>
                    <m:t>=</m:t>
                  </m:r>
                  <m:sSub>
                    <m:e>
                      <m:r>
                        <a:rPr lang="en-US" i="1" sz="2600">
                          <a:latin typeface="Cambria Math"/>
                        </a:rPr>
                        <m:t>z</m:t>
                      </m:r>
                    </m:e>
                    <m:sub>
                      <m:r>
                        <a:rPr lang="en-US" i="0" sz="2600">
                          <a:latin typeface="Cambria Math"/>
                        </a:rPr>
                        <m:t>1</m:t>
                      </m:r>
                    </m:sub>
                  </m:sSub>
                  <m:sSup>
                    <m:e>
                      <m:r>
                        <a:rPr lang="en-US" i="1" sz="2600">
                          <a:solidFill>
                            <a:srgbClr val="00B050"/>
                          </a:solidFill>
                          <a:latin typeface="Cambria Math"/>
                        </a:rPr>
                        <m:t>e</m:t>
                      </m:r>
                    </m:e>
                    <m:sup>
                      <m:r>
                        <a:rPr lang="en-US" i="1" sz="2600">
                          <a:solidFill>
                            <a:srgbClr val="00B050"/>
                          </a:solidFill>
                          <a:latin typeface="Cambria Math"/>
                        </a:rPr>
                        <m:t>−j</m:t>
                      </m:r>
                      <m:r>
                        <a:rPr lang="en-US" i="0" sz="2600">
                          <a:latin typeface="Cambria Math"/>
                        </a:rPr>
                        <m:t>ψ</m:t>
                      </m:r>
                    </m:sup>
                  </m:sSup>
                  <m:r>
                    <a:rPr lang="en-US" i="0" sz="2600">
                      <a:latin typeface="Cambria Math"/>
                    </a:rPr>
                    <m:t> </m:t>
                  </m:r>
                  <m:r>
                    <a:rPr lang="en-US" i="0" sz="2600">
                      <a:latin typeface="Cambria Math"/>
                    </a:rPr>
                    <m:t>,</m:t>
                  </m:r>
                  <m:r>
                    <a:rPr lang="en-US" i="0" sz="2600">
                      <a:latin typeface="Cambria Math"/>
                    </a:rPr>
                    <m:t>  </m:t>
                  </m:r>
                  <m:r>
                    <a:rPr lang="en-US" i="0" sz="2600">
                      <a:latin typeface="Cambria Math"/>
                    </a:rPr>
                    <m:t>ψ</m:t>
                  </m:r>
                  <m:r>
                    <a:rPr lang="en-US" i="0" sz="2600">
                      <a:latin typeface="Cambria Math"/>
                    </a:rPr>
                    <m:t>=</m:t>
                  </m:r>
                  <m:sSub>
                    <m:e>
                      <m:r>
                        <a:rPr lang="en-US" i="0" sz="2600">
                          <a:latin typeface="Cambria Math"/>
                        </a:rPr>
                        <m:t>ω</m:t>
                      </m:r>
                    </m:e>
                    <m:sub>
                      <m:r>
                        <a:rPr lang="en-US" i="1" sz="2600">
                          <a:latin typeface="Cambria Math"/>
                        </a:rPr>
                        <m:t>IF</m:t>
                      </m:r>
                    </m:sub>
                  </m:sSub>
                  <m:r>
                    <a:rPr lang="en-US" i="1" sz="2600">
                      <a:latin typeface="Cambria Math"/>
                    </a:rPr>
                    <m:t>t</m:t>
                  </m:r>
                </m:oMath>
              </m:oMathPara>
            </a14:m>
          </a:p>
        </p:txBody>
      </p:sp>
      <p:sp>
        <p:nvSpPr>
          <p:cNvPr id="15" name="Equation9b"/>
          <p:cNvSpPr/>
          <p:nvPr/>
        </p:nvSpPr>
        <p:spPr>
          <a:xfrm>
            <a:off x="914400" y="3454400"/>
            <a:ext cx="5283200" cy="10668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lang="en-US" i="1" sz="2400">
                          <a:latin typeface="Cambria Math"/>
                        </a:rPr>
                        <m:t>I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2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=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I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1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cos</m:t>
                  </m:r>
                  <m:r>
                    <a:rPr lang="en-US" i="0" sz="2400">
                      <a:latin typeface="Cambria Math"/>
                    </a:rPr>
                    <m:t>ψ</m:t>
                  </m:r>
                  <m:r>
                    <a:rPr lang="en-US" i="0" sz="2400">
                      <a:latin typeface="Cambria Math"/>
                    </a:rPr>
                    <m:t>+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Q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1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sin</m:t>
                  </m:r>
                  <m:r>
                    <a:rPr lang="en-US" i="0" sz="2400">
                      <a:latin typeface="Cambria Math"/>
                    </a:rPr>
                    <m:t>ψ</m:t>
                  </m:r>
                </m:oMath>
              </m:oMathPara>
            </a14:m>
          </a:p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lang="en-US" i="1" sz="2400">
                          <a:latin typeface="Cambria Math"/>
                        </a:rPr>
                        <m:t>Q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2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=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−I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1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sin</m:t>
                  </m:r>
                  <m:r>
                    <a:rPr lang="en-US" i="0" sz="2400">
                      <a:latin typeface="Cambria Math"/>
                    </a:rPr>
                    <m:t>ψ</m:t>
                  </m:r>
                  <m:r>
                    <a:rPr lang="en-US" i="0" sz="2400">
                      <a:latin typeface="Cambria Math"/>
                    </a:rPr>
                    <m:t>+</m:t>
                  </m:r>
                  <m:sSub>
                    <m:e>
                      <m:r>
                        <a:rPr lang="en-US" i="1" sz="2400">
                          <a:latin typeface="Cambria Math"/>
                        </a:rPr>
                        <m:t>Q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1</m:t>
                      </m:r>
                    </m:sub>
                  </m:sSub>
                  <m:r>
                    <a:rPr lang="en-US" i="0" sz="2400">
                      <a:latin typeface="Cambria Math"/>
                    </a:rPr>
                    <m:t>cos</m:t>
                  </m:r>
                  <m:r>
                    <a:rPr lang="en-US" i="0" sz="2400">
                      <a:latin typeface="Cambria Math"/>
                    </a:rPr>
                    <m:t>ψ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426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649014-5615-299D-FB77-2674AD71F8CE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z2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证据：有用归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DC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、镜像 −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11.9 dBc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0A9B418E-E499-20FB-428D-A7A3EC0D00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416E8960-D309-64D6-E7D6-66BF241421BA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9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" name="Pic10">
            <a:extLst>
              <a:ext uri="{FF2B5EF4-FFF2-40B4-BE49-F238E27FC236}">
                <a16:creationId xmlns:a16="http://schemas.microsoft.com/office/drawing/2014/main" id="{8B79A863-E57C-DAB1-9767-CA827DA639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70000"/>
            <a:ext cx="7061200" cy="4318000"/>
          </a:xfrm>
          <a:prstGeom prst="rect">
            <a:avLst/>
          </a:prstGeom>
        </p:spPr>
      </p:pic>
      <p:sp>
        <p:nvSpPr>
          <p:cNvPr id="8" name="KeyBoxZ2a">
            <a:extLst>
              <a:ext uri="{FF2B5EF4-FFF2-40B4-BE49-F238E27FC236}">
                <a16:creationId xmlns:a16="http://schemas.microsoft.com/office/drawing/2014/main" id="{F42FC053-BFE9-241D-9E3B-0BA8592A127D}"/>
              </a:ext>
            </a:extLst>
          </p:cNvPr>
          <p:cNvSpPr/>
          <p:nvPr/>
        </p:nvSpPr>
        <p:spPr>
          <a:xfrm>
            <a:off x="8382000" y="2819400"/>
            <a:ext cx="3302000" cy="711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11.9 dBc</a:t>
            </a:r>
          </a:p>
          <a:p>
            <a:pPr algn="ctr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@ −800 Hz</a:t>
            </a:r>
            <a:endParaRPr lang="zh-CN" altLang="en-US" sz="2000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KeyBoxZ2b">
            <a:extLst>
              <a:ext uri="{FF2B5EF4-FFF2-40B4-BE49-F238E27FC236}">
                <a16:creationId xmlns:a16="http://schemas.microsoft.com/office/drawing/2014/main" id="{E80F0971-539B-FD70-C9D8-561C02D9CD01}"/>
              </a:ext>
            </a:extLst>
          </p:cNvPr>
          <p:cNvSpPr/>
          <p:nvPr/>
        </p:nvSpPr>
        <p:spPr>
          <a:xfrm>
            <a:off x="8382000" y="3835400"/>
            <a:ext cx="3302000" cy="711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理论 −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20lg</a:t>
            </a:r>
            <a:r>
              <a:rPr lang="el-GR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γ = </a:t>
            </a:r>
            <a:r>
              <a:rPr lang="el-GR" altLang="zh-CN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−12.04 </a:t>
            </a:r>
            <a:r>
              <a:rPr lang="en-US" altLang="zh-CN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dB</a:t>
            </a:r>
            <a:endParaRPr lang="zh-CN" altLang="en-US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Take10">
            <a:extLst>
              <a:ext uri="{FF2B5EF4-FFF2-40B4-BE49-F238E27FC236}">
                <a16:creationId xmlns:a16="http://schemas.microsoft.com/office/drawing/2014/main" id="{BF9813F9-0E23-B591-4CEE-DE7301CD0372}"/>
              </a:ext>
            </a:extLst>
          </p:cNvPr>
          <p:cNvSpPr txBox="1"/>
          <p:nvPr/>
        </p:nvSpPr>
        <p:spPr>
          <a:xfrm>
            <a:off x="1651000" y="5740400"/>
            <a:ext cx="889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实测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11.9 dBc</a:t>
            </a:r>
            <a:r>
              <a:rPr lang="en-US" altLang="zh-CN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≈ </a:t>
            </a: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理论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12.04 dB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56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F9CC4F2-5689-318A-D70E-CB48921964C4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防线③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(3/4)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−3dB=241 Hz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C48E121B-ED67-0F9C-F826-D116DF726E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621B9C5B-2A87-F089-2DEE-84151B5ACEE7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Chip11">
            <a:extLst>
              <a:ext uri="{FF2B5EF4-FFF2-40B4-BE49-F238E27FC236}">
                <a16:creationId xmlns:a16="http://schemas.microsoft.com/office/drawing/2014/main" id="{4303934A-A89C-8E24-72D1-78ED6D3B6955}"/>
              </a:ext>
            </a:extLst>
          </p:cNvPr>
          <p:cNvSpPr txBox="1"/>
          <p:nvPr/>
        </p:nvSpPr>
        <p:spPr>
          <a:xfrm>
            <a:off x="508000" y="1244600"/>
            <a:ext cx="1397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DF6C0E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 ③</a:t>
            </a:r>
          </a:p>
        </p:txBody>
      </p:sp>
      <p:sp>
        <p:nvSpPr>
          <p:cNvPr id="7" name="Lead11">
            <a:extLst>
              <a:ext uri="{FF2B5EF4-FFF2-40B4-BE49-F238E27FC236}">
                <a16:creationId xmlns:a16="http://schemas.microsoft.com/office/drawing/2014/main" id="{772732B8-0660-D3D5-FBC0-3D01FAB3E84E}"/>
              </a:ext>
            </a:extLst>
          </p:cNvPr>
          <p:cNvSpPr txBox="1"/>
          <p:nvPr/>
        </p:nvSpPr>
        <p:spPr>
          <a:xfrm>
            <a:off x="508000" y="1701800"/>
            <a:ext cx="5588000" cy="9409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基带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</a:t>
            </a: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：四极点级联，两节二阶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ζ=0.707</a:t>
            </a: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8" name="Bullets11">
            <a:extLst>
              <a:ext uri="{FF2B5EF4-FFF2-40B4-BE49-F238E27FC236}">
                <a16:creationId xmlns:a16="http://schemas.microsoft.com/office/drawing/2014/main" id="{74032C14-E514-27BD-2B94-FACD578D8AB9}"/>
              </a:ext>
            </a:extLst>
          </p:cNvPr>
          <p:cNvSpPr txBox="1"/>
          <p:nvPr/>
        </p:nvSpPr>
        <p:spPr>
          <a:xfrm>
            <a:off x="508000" y="3860800"/>
            <a:ext cx="5588000" cy="12970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l-GR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l-GR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ω₀ = 300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Hz →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−3dB = 241 Hz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f₃dB = 0.803·</a:t>
            </a:r>
            <a:r>
              <a:rPr lang="el-GR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ω₀</a:t>
            </a:r>
            <a:r>
              <a:rPr lang="zh-CN" altLang="el-GR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l-GR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1/(1+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u⁴)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导出）</a:t>
            </a:r>
          </a:p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IF LPF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同构：−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3dB = </a:t>
            </a:r>
            <a:r>
              <a:rPr lang="en-US" altLang="zh-CN" sz="20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562 Hz</a:t>
            </a:r>
            <a:endParaRPr lang="zh-CN" altLang="en-US" sz="20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Take11">
            <a:extLst>
              <a:ext uri="{FF2B5EF4-FFF2-40B4-BE49-F238E27FC236}">
                <a16:creationId xmlns:a16="http://schemas.microsoft.com/office/drawing/2014/main" id="{F60F9E8F-548D-EB78-21AE-FC2BC9238871}"/>
              </a:ext>
            </a:extLst>
          </p:cNvPr>
          <p:cNvSpPr txBox="1"/>
          <p:nvPr/>
        </p:nvSpPr>
        <p:spPr>
          <a:xfrm>
            <a:off x="508000" y="5283200"/>
            <a:ext cx="5588000" cy="4639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滤除镜像，保住 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消息</a:t>
            </a:r>
          </a:p>
        </p:txBody>
      </p:sp>
      <p:pic>
        <p:nvPicPr>
          <p:cNvPr id="11" name="Pic11">
            <a:extLst>
              <a:ext uri="{FF2B5EF4-FFF2-40B4-BE49-F238E27FC236}">
                <a16:creationId xmlns:a16="http://schemas.microsoft.com/office/drawing/2014/main" id="{B841F437-A7D1-2CE7-2D81-5898033AF9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2400"/>
            <a:ext cx="5588000" cy="3543300"/>
          </a:xfrm>
          <a:prstGeom prst="rect">
            <a:avLst/>
          </a:prstGeom>
        </p:spPr>
      </p:pic>
      <p:sp>
        <p:nvSpPr>
          <p:cNvPr id="12" name="Note11">
            <a:extLst>
              <a:ext uri="{FF2B5EF4-FFF2-40B4-BE49-F238E27FC236}">
                <a16:creationId xmlns:a16="http://schemas.microsoft.com/office/drawing/2014/main" id="{C9EF740B-A1CB-B1BB-4CBB-DB8F1DD69C5D}"/>
              </a:ext>
            </a:extLst>
          </p:cNvPr>
          <p:cNvSpPr txBox="1"/>
          <p:nvPr/>
        </p:nvSpPr>
        <p:spPr>
          <a:xfrm>
            <a:off x="6096000" y="5080000"/>
            <a:ext cx="5461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调幅正交对（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I/Q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3" name="Equation11a"/>
          <p:cNvSpPr/>
          <p:nvPr/>
        </p:nvSpPr>
        <p:spPr>
          <a:xfrm>
            <a:off x="508000" y="2641600"/>
            <a:ext cx="5588000" cy="11176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1" sz="2600">
                      <a:latin typeface="Cambria Math"/>
                    </a:rPr>
                    <m:t>H</m:t>
                  </m:r>
                  <m:r>
                    <a:rPr lang="en-US" i="0" sz="2600">
                      <a:latin typeface="Cambria Math"/>
                    </a:rPr>
                    <m:t>(</m:t>
                  </m:r>
                  <m:r>
                    <a:rPr lang="en-US" i="1" sz="2600">
                      <a:latin typeface="Cambria Math"/>
                    </a:rPr>
                    <m:t>s</m:t>
                  </m:r>
                  <m:r>
                    <a:rPr lang="en-US" i="0" sz="2600">
                      <a:latin typeface="Cambria Math"/>
                    </a:rPr>
                    <m:t>)</m:t>
                  </m:r>
                  <m:r>
                    <a:rPr lang="en-US" i="0" sz="2600">
                      <a:latin typeface="Cambria Math"/>
                    </a:rPr>
                    <m:t>=</m:t>
                  </m:r>
                  <m:f>
                    <m:num>
                      <m:sSubSup>
                        <m:e>
                          <m:r>
                            <a:rPr lang="en-US" i="0" sz="2600">
                              <a:solidFill>
                                <a:srgbClr val="DF6C0E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i="0" sz="260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i="0" sz="2600">
                              <a:latin typeface="Cambria Math"/>
                            </a:rPr>
                            <m:t>4</m:t>
                          </m:r>
                        </m:sup>
                      </m:sSubSup>
                    </m:num>
                    <m:den>
                      <m:r>
                        <a:rPr lang="en-US" i="0" sz="2600"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i="1" sz="2600">
                              <a:latin typeface="Cambria Math"/>
                            </a:rPr>
                            <m:t>s</m:t>
                          </m:r>
                        </m:e>
                        <m:sup>
                          <m:r>
                            <a:rPr lang="en-US" i="0" sz="2600">
                              <a:latin typeface="Cambria Math"/>
                            </a:rPr>
                            <m:t>2+</m:t>
                          </m:r>
                        </m:sup>
                      </m:sSup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lang="en-US" i="0" sz="260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US" i="0" sz="2600">
                          <a:latin typeface="Cambria Math"/>
                        </a:rPr>
                        <m:t> </m:t>
                      </m:r>
                      <m:sSub>
                        <m:e>
                          <m:r>
                            <a:rPr lang="en-US" i="0" sz="2600">
                              <a:solidFill>
                                <a:srgbClr val="DF6C0E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i="0" sz="26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 sz="2600">
                          <a:latin typeface="Cambria Math"/>
                        </a:rPr>
                        <m:t>s+</m:t>
                      </m:r>
                      <m:sSubSup>
                        <m:e>
                          <m:r>
                            <a:rPr lang="en-US" i="0" sz="2600">
                              <a:solidFill>
                                <a:srgbClr val="DF6C0E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i="0" sz="260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i="0" sz="2600">
                              <a:latin typeface="Cambria Math"/>
                            </a:rPr>
                            <m:t>2</m:t>
                          </m:r>
                        </m:sup>
                      </m:sSubSup>
                      <m:sSup>
                        <m:e>
                          <m:r>
                            <a:rPr lang="en-US" i="0" sz="260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0" sz="2600">
                              <a:latin typeface="Cambria Math"/>
                            </a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3125684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7BF43D-40EB-1708-D98D-2C92E2E648DB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前后对照：净压制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32.9 dB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E84C33AC-FA92-C45D-45AF-CFD8036402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75602BBD-890C-DAF7-BE9A-599AD3BE26AF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Head12a">
            <a:extLst>
              <a:ext uri="{FF2B5EF4-FFF2-40B4-BE49-F238E27FC236}">
                <a16:creationId xmlns:a16="http://schemas.microsoft.com/office/drawing/2014/main" id="{31B2AE80-F5A5-7007-3026-0C53B1B8C050}"/>
              </a:ext>
            </a:extLst>
          </p:cNvPr>
          <p:cNvSpPr txBox="1"/>
          <p:nvPr/>
        </p:nvSpPr>
        <p:spPr>
          <a:xfrm>
            <a:off x="635000" y="1270000"/>
            <a:ext cx="5461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开：镜像 −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44.8 dBc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Head12b">
            <a:extLst>
              <a:ext uri="{FF2B5EF4-FFF2-40B4-BE49-F238E27FC236}">
                <a16:creationId xmlns:a16="http://schemas.microsoft.com/office/drawing/2014/main" id="{956EEA3C-745D-E790-0C69-D4E9D9235370}"/>
              </a:ext>
            </a:extLst>
          </p:cNvPr>
          <p:cNvSpPr txBox="1"/>
          <p:nvPr/>
        </p:nvSpPr>
        <p:spPr>
          <a:xfrm>
            <a:off x="6096000" y="1270000"/>
            <a:ext cx="5461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关：同频底噪 −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54.7 dBc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" name="Pic12a">
            <a:extLst>
              <a:ext uri="{FF2B5EF4-FFF2-40B4-BE49-F238E27FC236}">
                <a16:creationId xmlns:a16="http://schemas.microsoft.com/office/drawing/2014/main" id="{E6ADDBA1-5D4D-1F47-CD41-18928DA900C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727200"/>
            <a:ext cx="5461000" cy="3340100"/>
          </a:xfrm>
          <a:prstGeom prst="rect">
            <a:avLst/>
          </a:prstGeom>
        </p:spPr>
      </p:pic>
      <p:pic>
        <p:nvPicPr>
          <p:cNvPr id="11" name="Pic12b">
            <a:extLst>
              <a:ext uri="{FF2B5EF4-FFF2-40B4-BE49-F238E27FC236}">
                <a16:creationId xmlns:a16="http://schemas.microsoft.com/office/drawing/2014/main" id="{0139C485-5B4C-3D4F-A126-8A756F7F29E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27200"/>
            <a:ext cx="5461000" cy="3340100"/>
          </a:xfrm>
          <a:prstGeom prst="rect">
            <a:avLst/>
          </a:prstGeom>
        </p:spPr>
      </p:pic>
      <p:sp>
        <p:nvSpPr>
          <p:cNvPr id="12" name="KeyBox12a">
            <a:extLst>
              <a:ext uri="{FF2B5EF4-FFF2-40B4-BE49-F238E27FC236}">
                <a16:creationId xmlns:a16="http://schemas.microsoft.com/office/drawing/2014/main" id="{2105D9E0-EA86-EBED-35D2-04C862AD7D85}"/>
              </a:ext>
            </a:extLst>
          </p:cNvPr>
          <p:cNvSpPr/>
          <p:nvPr/>
        </p:nvSpPr>
        <p:spPr>
          <a:xfrm>
            <a:off x="1143000" y="2286000"/>
            <a:ext cx="22860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−44.8 dBc</a:t>
            </a:r>
            <a:endParaRPr lang="zh-CN" altLang="en-US" sz="22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KeyBox12b">
            <a:extLst>
              <a:ext uri="{FF2B5EF4-FFF2-40B4-BE49-F238E27FC236}">
                <a16:creationId xmlns:a16="http://schemas.microsoft.com/office/drawing/2014/main" id="{53E32766-8E01-4248-4263-20D8A30E2A3F}"/>
              </a:ext>
            </a:extLst>
          </p:cNvPr>
          <p:cNvSpPr/>
          <p:nvPr/>
        </p:nvSpPr>
        <p:spPr>
          <a:xfrm>
            <a:off x="6705600" y="2286000"/>
            <a:ext cx="26670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−54.7 dBc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（底噪）</a:t>
            </a:r>
          </a:p>
        </p:txBody>
      </p:sp>
      <p:sp>
        <p:nvSpPr>
          <p:cNvPr id="14" name="Take12">
            <a:extLst>
              <a:ext uri="{FF2B5EF4-FFF2-40B4-BE49-F238E27FC236}">
                <a16:creationId xmlns:a16="http://schemas.microsoft.com/office/drawing/2014/main" id="{8E0DBF1C-B3D8-0FEA-CBC4-BBB8BEA620BC}"/>
              </a:ext>
            </a:extLst>
          </p:cNvPr>
          <p:cNvSpPr txBox="1"/>
          <p:nvPr/>
        </p:nvSpPr>
        <p:spPr>
          <a:xfrm>
            <a:off x="1651000" y="5461000"/>
            <a:ext cx="889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净压制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32.9 dB</a:t>
            </a: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11.9 → −44.8 dBc</a:t>
            </a: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01554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42492B-A777-91D3-47C5-BA70424F2E84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防线④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(4/4)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：归一化鉴频检波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A14FEC27-AC31-CAB6-904C-4B36F86DB0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D1E6CA8D-0373-FEAB-5A80-05718445AA4F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12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Chip13">
            <a:extLst>
              <a:ext uri="{FF2B5EF4-FFF2-40B4-BE49-F238E27FC236}">
                <a16:creationId xmlns:a16="http://schemas.microsoft.com/office/drawing/2014/main" id="{07D6B668-6908-8B87-F6D2-08CDE7CF4A71}"/>
              </a:ext>
            </a:extLst>
          </p:cNvPr>
          <p:cNvSpPr txBox="1"/>
          <p:nvPr/>
        </p:nvSpPr>
        <p:spPr>
          <a:xfrm>
            <a:off x="508000" y="1244600"/>
            <a:ext cx="1397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7030A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防线 ④</a:t>
            </a:r>
          </a:p>
        </p:txBody>
      </p:sp>
      <p:sp>
        <p:nvSpPr>
          <p:cNvPr id="7" name="Lead13">
            <a:extLst>
              <a:ext uri="{FF2B5EF4-FFF2-40B4-BE49-F238E27FC236}">
                <a16:creationId xmlns:a16="http://schemas.microsoft.com/office/drawing/2014/main" id="{6561AE64-DA16-7EF6-0464-52820ED4B933}"/>
              </a:ext>
            </a:extLst>
          </p:cNvPr>
          <p:cNvSpPr txBox="1"/>
          <p:nvPr/>
        </p:nvSpPr>
        <p:spPr>
          <a:xfrm>
            <a:off x="508000" y="1701800"/>
            <a:ext cx="5588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叉乘微分式，直接恢复瞬时频偏：</a:t>
            </a:r>
          </a:p>
        </p:txBody>
      </p:sp>
      <p:sp>
        <p:nvSpPr>
          <p:cNvPr id="8" name="Bullets13">
            <a:extLst>
              <a:ext uri="{FF2B5EF4-FFF2-40B4-BE49-F238E27FC236}">
                <a16:creationId xmlns:a16="http://schemas.microsoft.com/office/drawing/2014/main" id="{D7B48049-37DA-58BE-B286-2F0DA5870B1B}"/>
              </a:ext>
            </a:extLst>
          </p:cNvPr>
          <p:cNvSpPr txBox="1"/>
          <p:nvPr/>
        </p:nvSpPr>
        <p:spPr>
          <a:xfrm>
            <a:off x="508000" y="5029200"/>
            <a:ext cx="5588000" cy="124579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Δ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支路：单位延迟作差分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I² + Q²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归一化 → 纹波自抵消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zh-CN" sz="20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输出增益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G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：恢复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消息</a:t>
            </a:r>
          </a:p>
        </p:txBody>
      </p:sp>
      <p:sp>
        <p:nvSpPr>
          <p:cNvPr id="9" name="Head13">
            <a:extLst>
              <a:ext uri="{FF2B5EF4-FFF2-40B4-BE49-F238E27FC236}">
                <a16:creationId xmlns:a16="http://schemas.microsoft.com/office/drawing/2014/main" id="{02DB4CD8-6737-5DD5-DB2C-CB4730FC71A0}"/>
              </a:ext>
            </a:extLst>
          </p:cNvPr>
          <p:cNvSpPr txBox="1"/>
          <p:nvPr/>
        </p:nvSpPr>
        <p:spPr>
          <a:xfrm>
            <a:off x="6578600" y="1206500"/>
            <a:ext cx="45720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鉴频器：</a:t>
            </a:r>
            <a:r>
              <a:rPr lang="el-GR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Δ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叉乘 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I² + Q²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1" name="Pic13">
            <a:extLst>
              <a:ext uri="{FF2B5EF4-FFF2-40B4-BE49-F238E27FC236}">
                <a16:creationId xmlns:a16="http://schemas.microsoft.com/office/drawing/2014/main" id="{354A66BC-C684-3F46-79EB-F5CACF35F5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1574800"/>
            <a:ext cx="5105400" cy="3644900"/>
          </a:xfrm>
          <a:prstGeom prst="rect">
            <a:avLst/>
          </a:prstGeom>
        </p:spPr>
      </p:pic>
      <p:sp>
        <p:nvSpPr>
          <p:cNvPr id="12" name="Note13">
            <a:extLst>
              <a:ext uri="{FF2B5EF4-FFF2-40B4-BE49-F238E27FC236}">
                <a16:creationId xmlns:a16="http://schemas.microsoft.com/office/drawing/2014/main" id="{65A9C55F-D402-3A39-2F07-433CDC3B86E0}"/>
              </a:ext>
            </a:extLst>
          </p:cNvPr>
          <p:cNvSpPr txBox="1"/>
          <p:nvPr/>
        </p:nvSpPr>
        <p:spPr>
          <a:xfrm>
            <a:off x="6578600" y="5346700"/>
            <a:ext cx="51054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鉴频器：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Δ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支路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叉乘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I²+Q²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归一化</a:t>
            </a:r>
          </a:p>
        </p:txBody>
      </p:sp>
      <p:sp>
        <p:nvSpPr>
          <p:cNvPr id="13" name="Equation13a"/>
          <p:cNvSpPr/>
          <p:nvPr/>
        </p:nvSpPr>
        <p:spPr>
          <a:xfrm>
            <a:off x="508000" y="2235200"/>
            <a:ext cx="5588000" cy="12192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600">
                      <a:solidFill>
                        <a:srgbClr val="7030A0"/>
                      </a:solidFill>
                      <a:latin typeface="Cambria Math"/>
                    </a:rPr>
                    <m:t>ω̂=</m:t>
                  </m:r>
                  <m:f>
                    <m:num>
                      <m:r>
                        <a:rPr lang="en-US" i="1" sz="2600">
                          <a:latin typeface="Cambria Math"/>
                        </a:rPr>
                        <m:t>I</m:t>
                      </m:r>
                      <m:r>
                        <a:rPr lang="en-US" i="0" sz="2600">
                          <a:latin typeface="Cambria Math"/>
                        </a:rPr>
                        <m:t>·</m:t>
                      </m:r>
                      <m:r>
                        <a:rPr lang="en-US" i="1" sz="2600">
                          <a:latin typeface="Cambria Math"/>
                        </a:rPr>
                        <m:t>ΔQ</m:t>
                      </m:r>
                      <m:r>
                        <a:rPr lang="en-US" i="0" sz="2600">
                          <a:latin typeface="Cambria Math"/>
                        </a:rPr>
                        <m:t>−</m:t>
                      </m:r>
                      <m:r>
                        <a:rPr lang="en-US" i="1" sz="2600">
                          <a:latin typeface="Cambria Math"/>
                        </a:rPr>
                        <m:t>Q</m:t>
                      </m:r>
                      <m:r>
                        <a:rPr lang="en-US" i="0" sz="2600">
                          <a:latin typeface="Cambria Math"/>
                        </a:rPr>
                        <m:t>·</m:t>
                      </m:r>
                      <m:r>
                        <a:rPr lang="en-US" i="1" sz="2600">
                          <a:latin typeface="Cambria Math"/>
                        </a:rPr>
                        <m:t>ΔI</m:t>
                      </m:r>
                    </m:num>
                    <m:den>
                      <m:sSup>
                        <m:e>
                          <m:r>
                            <a:rPr lang="en-US" i="1" sz="2600">
                              <a:latin typeface="Cambria Math"/>
                            </a:rPr>
                            <m:t>I</m:t>
                          </m:r>
                        </m:e>
                        <m:sup>
                          <m:r>
                            <a:rPr lang="en-US" i="0" sz="26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0" sz="2600">
                          <a:latin typeface="Cambria Math"/>
                        </a:rPr>
                        <m:t>+</m:t>
                      </m:r>
                      <m:sSup>
                        <m:e>
                          <m:r>
                            <a:rPr lang="en-US" i="1" sz="2600">
                              <a:latin typeface="Cambria Math"/>
                            </a:rPr>
                            <m:t>Q</m:t>
                          </m:r>
                        </m:e>
                        <m:sup>
                          <m:r>
                            <a:rPr lang="en-US" i="0" sz="26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0" sz="2600">
                          <a:latin typeface="Cambria Math"/>
                        </a:rPr>
                        <m:t>+</m:t>
                      </m:r>
                      <m:r>
                        <a:rPr lang="en-US" i="0" sz="2600">
                          <a:solidFill>
                            <a:srgbClr val="7030A0"/>
                          </a:solidFill>
                          <a:latin typeface="Cambria Math"/>
                        </a:rPr>
                        <m:t>ε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Equation13b"/>
          <p:cNvSpPr/>
          <p:nvPr/>
        </p:nvSpPr>
        <p:spPr>
          <a:xfrm>
            <a:off x="508000" y="3657600"/>
            <a:ext cx="5588000" cy="12192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0" sz="2400">
                      <a:latin typeface="Cambria Math"/>
                    </a:rPr>
                    <m:t>ε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1</m:t>
                  </m:r>
                  <m:r>
                    <a:rPr lang="en-US" i="0" sz="2400">
                      <a:latin typeface="Cambria Math"/>
                    </a:rPr>
                    <m:t>×</m:t>
                  </m:r>
                  <m:sSup>
                    <m:e>
                      <m:r>
                        <a:rPr lang="en-US" i="0" sz="2400">
                          <a:latin typeface="Cambria Math"/>
                        </a:rPr>
                        <m:t>10</m:t>
                      </m:r>
                    </m:e>
                    <m:sup>
                      <m:r>
                        <a:rPr lang="en-US" i="0" sz="2400">
                          <a:latin typeface="Cambria Math"/>
                        </a:rPr>
                        <m:t>−6</m:t>
                      </m:r>
                    </m:sup>
                  </m:sSup>
                </m:oMath>
              </m:oMathPara>
            </a14:m>
          </a:p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1" sz="2400">
                      <a:latin typeface="Cambria Math"/>
                    </a:rPr>
                    <m:t>G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1/</m:t>
                  </m:r>
                  <m:r>
                    <a:rPr lang="en-US" i="0" sz="2400">
                      <a:latin typeface="Cambria Math"/>
                    </a:rPr>
                    <m:t>(</m:t>
                  </m:r>
                  <m:r>
                    <a:rPr lang="en-US" i="0" sz="2400">
                      <a:latin typeface="Cambria Math"/>
                    </a:rPr>
                    <m:t>2</m:t>
                  </m:r>
                  <m:r>
                    <a:rPr lang="en-US" i="0" sz="2400">
                      <a:latin typeface="Cambria Math"/>
                    </a:rPr>
                    <m:t>π</m:t>
                  </m:r>
                  <m:r>
                    <a:rPr lang="en-US" i="0" sz="2400">
                      <a:latin typeface="Cambria Math"/>
                    </a:rPr>
                    <m:t>Δ</m:t>
                  </m:r>
                  <m:r>
                    <a:rPr lang="en-US" i="1" sz="2400">
                      <a:latin typeface="Cambria Math"/>
                    </a:rPr>
                    <m:t>f</m:t>
                  </m:r>
                  <m:r>
                    <a:rPr lang="en-US" i="0" sz="2400">
                      <a:latin typeface="Cambria Math"/>
                    </a:rPr>
                    <m:t>)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solidFill>
                        <a:srgbClr val="7030A0"/>
                      </a:solidFill>
                      <a:latin typeface="Cambria Math"/>
                    </a:rPr>
                    <m:t>7.958</m:t>
                  </m:r>
                  <m:r>
                    <a:rPr lang="en-US" i="0" sz="2400">
                      <a:latin typeface="Cambria Math"/>
                    </a:rPr>
                    <m:t>×</m:t>
                  </m:r>
                  <m:sSup>
                    <m:e>
                      <m:r>
                        <a:rPr lang="en-US" i="0" sz="2400">
                          <a:latin typeface="Cambria Math"/>
                        </a:rPr>
                        <m:t>10</m:t>
                      </m:r>
                    </m:e>
                    <m:sup>
                      <m:r>
                        <a:rPr lang="en-US" i="0" sz="2400">
                          <a:latin typeface="Cambria Math"/>
                        </a:rPr>
                        <m:t>−4</m:t>
                      </m:r>
                    </m:sup>
                  </m:sSup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731056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A75F3F9-211F-0F57-C7B9-81D266834504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鲁棒性：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±27.4%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纹波被归一化抵消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73E4CD9C-F6B6-FD9D-04D4-CFEBAFCB0A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49B0EEBF-3043-DFFF-32DF-CA2AAF60002C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Head14a">
            <a:extLst>
              <a:ext uri="{FF2B5EF4-FFF2-40B4-BE49-F238E27FC236}">
                <a16:creationId xmlns:a16="http://schemas.microsoft.com/office/drawing/2014/main" id="{BC785EE1-0D69-8DAD-0DF6-884307972167}"/>
              </a:ext>
            </a:extLst>
          </p:cNvPr>
          <p:cNvSpPr txBox="1"/>
          <p:nvPr/>
        </p:nvSpPr>
        <p:spPr>
          <a:xfrm>
            <a:off x="889000" y="1270000"/>
            <a:ext cx="34163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IQ </a:t>
            </a: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轨迹：近圆</a:t>
            </a:r>
          </a:p>
        </p:txBody>
      </p:sp>
      <p:sp>
        <p:nvSpPr>
          <p:cNvPr id="7" name="Head14b">
            <a:extLst>
              <a:ext uri="{FF2B5EF4-FFF2-40B4-BE49-F238E27FC236}">
                <a16:creationId xmlns:a16="http://schemas.microsoft.com/office/drawing/2014/main" id="{5B74493F-F17A-6D95-751E-D8EFD176A375}"/>
              </a:ext>
            </a:extLst>
          </p:cNvPr>
          <p:cNvSpPr txBox="1"/>
          <p:nvPr/>
        </p:nvSpPr>
        <p:spPr>
          <a:xfrm>
            <a:off x="4813300" y="1270000"/>
            <a:ext cx="6007100" cy="430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480"/>
              </a:spcAft>
            </a:pPr>
            <a:r>
              <a:rPr lang="zh-CN" altLang="en-US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包络纹波 </a:t>
            </a:r>
            <a:r>
              <a:rPr lang="en-US" altLang="zh-CN" sz="20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±27.4% @ 50 Hz</a:t>
            </a:r>
            <a:endParaRPr lang="zh-CN" altLang="en-US" sz="20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9" name="Pic14a">
            <a:extLst>
              <a:ext uri="{FF2B5EF4-FFF2-40B4-BE49-F238E27FC236}">
                <a16:creationId xmlns:a16="http://schemas.microsoft.com/office/drawing/2014/main" id="{F5A963EB-C712-7B82-81F2-370E924AAE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727200"/>
            <a:ext cx="3416300" cy="3365500"/>
          </a:xfrm>
          <a:prstGeom prst="rect">
            <a:avLst/>
          </a:prstGeom>
        </p:spPr>
      </p:pic>
      <p:pic>
        <p:nvPicPr>
          <p:cNvPr id="11" name="Pic14b">
            <a:extLst>
              <a:ext uri="{FF2B5EF4-FFF2-40B4-BE49-F238E27FC236}">
                <a16:creationId xmlns:a16="http://schemas.microsoft.com/office/drawing/2014/main" id="{32AC1A07-B5E3-0394-16A2-D1B0DFFBBF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300" y="1727200"/>
            <a:ext cx="6007100" cy="3365500"/>
          </a:xfrm>
          <a:prstGeom prst="rect">
            <a:avLst/>
          </a:prstGeom>
        </p:spPr>
      </p:pic>
      <p:sp>
        <p:nvSpPr>
          <p:cNvPr id="12" name="Note14a">
            <a:extLst>
              <a:ext uri="{FF2B5EF4-FFF2-40B4-BE49-F238E27FC236}">
                <a16:creationId xmlns:a16="http://schemas.microsoft.com/office/drawing/2014/main" id="{62EA10E5-0254-C6D4-C6B8-B138FE7861A1}"/>
              </a:ext>
            </a:extLst>
          </p:cNvPr>
          <p:cNvSpPr txBox="1"/>
          <p:nvPr/>
        </p:nvSpPr>
        <p:spPr>
          <a:xfrm>
            <a:off x="889000" y="5207000"/>
            <a:ext cx="34163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倾斜致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|H|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失圆</a:t>
            </a:r>
          </a:p>
        </p:txBody>
      </p:sp>
      <p:sp>
        <p:nvSpPr>
          <p:cNvPr id="13" name="Note14b">
            <a:extLst>
              <a:ext uri="{FF2B5EF4-FFF2-40B4-BE49-F238E27FC236}">
                <a16:creationId xmlns:a16="http://schemas.microsoft.com/office/drawing/2014/main" id="{D46667B5-22A8-D9ED-1EB8-C493F25F9650}"/>
              </a:ext>
            </a:extLst>
          </p:cNvPr>
          <p:cNvSpPr txBox="1"/>
          <p:nvPr/>
        </p:nvSpPr>
        <p:spPr>
          <a:xfrm>
            <a:off x="4813300" y="5207000"/>
            <a:ext cx="60071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|H(600)| ≈ 0.88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|H(200)| ≈ 1.0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IF LPF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带内倾斜）</a:t>
            </a:r>
          </a:p>
        </p:txBody>
      </p:sp>
      <p:sp>
        <p:nvSpPr>
          <p:cNvPr id="14" name="Take14">
            <a:extLst>
              <a:ext uri="{FF2B5EF4-FFF2-40B4-BE49-F238E27FC236}">
                <a16:creationId xmlns:a16="http://schemas.microsoft.com/office/drawing/2014/main" id="{D9929159-D633-C978-CAB0-A2B95786C283}"/>
              </a:ext>
            </a:extLst>
          </p:cNvPr>
          <p:cNvSpPr txBox="1"/>
          <p:nvPr/>
        </p:nvSpPr>
        <p:spPr>
          <a:xfrm>
            <a:off x="1016000" y="5638800"/>
            <a:ext cx="1016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en-US" altLang="zh-CN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|H(600)| ≈ 0.88 vs |H(200)| ≈ 1.0 → I²+Q²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归一化抵消</a:t>
            </a:r>
          </a:p>
        </p:txBody>
      </p:sp>
    </p:spTree>
    <p:extLst>
      <p:ext uri="{BB962C8B-B14F-4D97-AF65-F5344CB8AC3E}">
        <p14:creationId xmlns:p14="http://schemas.microsoft.com/office/powerpoint/2010/main" val="1430813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144EA32-8507-9B73-A779-E9E34E07BD73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结果：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corr=0.9613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恢复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消息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CD03F41E-C9EA-3155-1C2B-429B6B9282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6A87B89B-2446-80BC-6A09-D1D4B26018E2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14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" name="Pic15">
            <a:extLst>
              <a:ext uri="{FF2B5EF4-FFF2-40B4-BE49-F238E27FC236}">
                <a16:creationId xmlns:a16="http://schemas.microsoft.com/office/drawing/2014/main" id="{FA359B4E-E84E-A3C6-CDC5-7E99E24DA8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270000"/>
            <a:ext cx="7366000" cy="4546600"/>
          </a:xfrm>
          <a:prstGeom prst="rect">
            <a:avLst/>
          </a:prstGeom>
        </p:spPr>
      </p:pic>
      <p:sp>
        <p:nvSpPr>
          <p:cNvPr id="8" name="KeyBox15a">
            <a:extLst>
              <a:ext uri="{FF2B5EF4-FFF2-40B4-BE49-F238E27FC236}">
                <a16:creationId xmlns:a16="http://schemas.microsoft.com/office/drawing/2014/main" id="{9387D9EF-127E-3E82-A921-144B3F5D8FEF}"/>
              </a:ext>
            </a:extLst>
          </p:cNvPr>
          <p:cNvSpPr/>
          <p:nvPr/>
        </p:nvSpPr>
        <p:spPr>
          <a:xfrm>
            <a:off x="8636000" y="2565400"/>
            <a:ext cx="30480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corr = 0.9613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KeyBox15b">
            <a:extLst>
              <a:ext uri="{FF2B5EF4-FFF2-40B4-BE49-F238E27FC236}">
                <a16:creationId xmlns:a16="http://schemas.microsoft.com/office/drawing/2014/main" id="{372CE152-8B82-76CF-67A9-C66962457EDD}"/>
              </a:ext>
            </a:extLst>
          </p:cNvPr>
          <p:cNvSpPr/>
          <p:nvPr/>
        </p:nvSpPr>
        <p:spPr>
          <a:xfrm>
            <a:off x="8636000" y="3505200"/>
            <a:ext cx="30480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滞后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2.20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ms</a:t>
            </a:r>
          </a:p>
          <a:p>
            <a:pPr algn="ctr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（微分链群延迟）</a:t>
            </a:r>
          </a:p>
        </p:txBody>
      </p:sp>
      <p:sp>
        <p:nvSpPr>
          <p:cNvPr id="10" name="KeyBox15c">
            <a:extLst>
              <a:ext uri="{FF2B5EF4-FFF2-40B4-BE49-F238E27FC236}">
                <a16:creationId xmlns:a16="http://schemas.microsoft.com/office/drawing/2014/main" id="{356CED5E-24F3-0EF3-7F39-466F5E27CA5A}"/>
              </a:ext>
            </a:extLst>
          </p:cNvPr>
          <p:cNvSpPr/>
          <p:nvPr/>
        </p:nvSpPr>
        <p:spPr>
          <a:xfrm>
            <a:off x="8636000" y="4445000"/>
            <a:ext cx="30480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频偏峰值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214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Hz</a:t>
            </a:r>
          </a:p>
          <a:p>
            <a:pPr algn="ctr"/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（设置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±200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" name="Take15">
            <a:extLst>
              <a:ext uri="{FF2B5EF4-FFF2-40B4-BE49-F238E27FC236}">
                <a16:creationId xmlns:a16="http://schemas.microsoft.com/office/drawing/2014/main" id="{DF922B44-68F2-D693-24CC-4140885AA0A5}"/>
              </a:ext>
            </a:extLst>
          </p:cNvPr>
          <p:cNvSpPr txBox="1"/>
          <p:nvPr/>
        </p:nvSpPr>
        <p:spPr>
          <a:xfrm>
            <a:off x="1651000" y="5892800"/>
            <a:ext cx="8890000" cy="4639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28"/>
              </a:spcAft>
            </a:pPr>
            <a:r>
              <a:rPr lang="zh-CN" altLang="en-US" sz="2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镜像问题 → 四道防线 → 消息恢复，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定量闭环</a:t>
            </a:r>
          </a:p>
        </p:txBody>
      </p:sp>
    </p:spTree>
    <p:extLst>
      <p:ext uri="{BB962C8B-B14F-4D97-AF65-F5344CB8AC3E}">
        <p14:creationId xmlns:p14="http://schemas.microsoft.com/office/powerpoint/2010/main" val="55249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F727A4-8DB4-27A2-F1EF-ACA7D1033D94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全链参数表：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47 </a:t>
            </a: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变量实测一致</a:t>
            </a: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54E19C09-C1AF-68B1-4244-86ADCAFDC2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2CA85078-CB64-302D-304F-DAB73C869D98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15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Table16">
            <a:extLst>
              <a:ext uri="{FF2B5EF4-FFF2-40B4-BE49-F238E27FC236}">
                <a16:creationId xmlns:a16="http://schemas.microsoft.com/office/drawing/2014/main" id="{275B86D5-963C-0D7A-9261-B63313A49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4592"/>
              </p:ext>
            </p:extLst>
          </p:nvPr>
        </p:nvGraphicFramePr>
        <p:xfrm>
          <a:off x="762000" y="1422400"/>
          <a:ext cx="10668000" cy="4267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2990237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59809738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61150995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参数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28575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数值（实测）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28575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28575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407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fc / A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1000 Hz / 1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载波频率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幅度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28575" cmpd="sng">
                      <a:solidFill>
                        <a:srgbClr val="000000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86616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f_m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50 Hz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消息频率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7106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l-GR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Δ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f / </a:t>
                      </a:r>
                      <a:r>
                        <a:rPr lang="el-GR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β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200 Hz / 4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频偏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调制指数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4778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镜像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200 Hz</a:t>
                      </a:r>
                      <a:r>
                        <a:rPr lang="zh-CN" altLang="en-US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l-GR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γ = 0.25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同消息同 </a:t>
                      </a:r>
                      <a:r>
                        <a:rPr lang="el-GR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β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51629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LO1 / LO2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600 / 400 Hz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LO1 + LO2 = fc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158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mixerGain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补偿混频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½ 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损耗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37823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IF LPF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ω₀ = 700 </a:t>
                      </a:r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Hz</a:t>
                      </a:r>
                      <a:r>
                        <a:rPr lang="zh-CN" altLang="en-US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，−</a:t>
                      </a:r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3dB = 562 Hz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四极点级联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27289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基带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LPF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ω₀ = 300 </a:t>
                      </a:r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Hz</a:t>
                      </a:r>
                      <a:r>
                        <a:rPr lang="zh-CN" altLang="en-US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，−</a:t>
                      </a:r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3dB = 241 Hz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两节二阶 </a:t>
                      </a:r>
                      <a:r>
                        <a:rPr lang="el-GR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ζ = 0.707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368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l-GR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ε /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G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1×10⁻⁶ / 7.958×10⁻⁴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防零除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输出增益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16174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仿真时长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0.08 s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ode45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3074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端到端</a:t>
                      </a: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905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corr = 0.9613</a:t>
                      </a:r>
                      <a:r>
                        <a:rPr lang="zh-CN" altLang="en-US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，滞后 </a:t>
                      </a:r>
                      <a:r>
                        <a:rPr lang="en-US" altLang="zh-CN" sz="18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2.20 ms</a:t>
                      </a:r>
                      <a:endParaRPr lang="zh-CN" altLang="en-US" sz="1800" b="1" i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905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频偏峰值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214 Hz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905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1854"/>
                  </a:ext>
                </a:extLst>
              </a:tr>
            </a:tbl>
          </a:graphicData>
        </a:graphic>
      </p:graphicFrame>
      <p:sp>
        <p:nvSpPr>
          <p:cNvPr id="7" name="Note16">
            <a:extLst>
              <a:ext uri="{FF2B5EF4-FFF2-40B4-BE49-F238E27FC236}">
                <a16:creationId xmlns:a16="http://schemas.microsoft.com/office/drawing/2014/main" id="{9C1E3FD3-2B6E-D1F1-D948-F1729A304897}"/>
              </a:ext>
            </a:extLst>
          </p:cNvPr>
          <p:cNvSpPr txBox="1"/>
          <p:nvPr/>
        </p:nvSpPr>
        <p:spPr>
          <a:xfrm>
            <a:off x="762000" y="5816600"/>
            <a:ext cx="10668000" cy="362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384"/>
              </a:spcAft>
            </a:pP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注：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2026-09-16 MATLAB getVariable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实测模型工作区，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47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变量全部命中；全部曲线为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sim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7127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796632-3D7E-4245-AE82-80B7AE26A7C5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zh-CN" altLang="en-US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结论：四道防线净压镜像 </a:t>
            </a: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32.9 dB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7F9023EB-AC07-4946-7D09-FF2E3F8F02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E5FC27D7-2163-8094-819C-2210A20D420B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16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Bullets17">
            <a:extLst>
              <a:ext uri="{FF2B5EF4-FFF2-40B4-BE49-F238E27FC236}">
                <a16:creationId xmlns:a16="http://schemas.microsoft.com/office/drawing/2014/main" id="{B6F641B3-5656-00A2-3F61-0D385446FC9F}"/>
              </a:ext>
            </a:extLst>
          </p:cNvPr>
          <p:cNvSpPr txBox="1"/>
          <p:nvPr/>
        </p:nvSpPr>
        <p:spPr>
          <a:xfrm>
            <a:off x="1143000" y="1905000"/>
            <a:ext cx="9906000" cy="36100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700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复混频分离正负谱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：镜像落到 </a:t>
            </a:r>
            <a:r>
              <a:rPr lang="zh-CN" altLang="en-US" sz="3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−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400 Hz</a:t>
            </a:r>
          </a:p>
          <a:p>
            <a:pPr>
              <a:lnSpc>
                <a:spcPct val="120000"/>
              </a:lnSpc>
              <a:spcAft>
                <a:spcPts val="700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旋转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基带 </a:t>
            </a:r>
            <a:r>
              <a:rPr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LPF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：净压制镜像 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32.9 dB</a:t>
            </a:r>
          </a:p>
          <a:p>
            <a:pPr>
              <a:lnSpc>
                <a:spcPct val="120000"/>
              </a:lnSpc>
              <a:spcAft>
                <a:spcPts val="7000"/>
              </a:spcAft>
            </a:pPr>
            <a:r>
              <a:rPr lang="en-US" altLang="zh-CN" sz="3200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•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归一化鉴频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sz="32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corr = 0.9613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，恢复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50 Hz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消息</a:t>
            </a:r>
          </a:p>
        </p:txBody>
      </p:sp>
      <p:sp>
        <p:nvSpPr>
          <p:cNvPr id="7" name="Take17">
            <a:extLst>
              <a:ext uri="{FF2B5EF4-FFF2-40B4-BE49-F238E27FC236}">
                <a16:creationId xmlns:a16="http://schemas.microsoft.com/office/drawing/2014/main" id="{D2538F64-C7C0-F45E-AF83-442DE758C73B}"/>
              </a:ext>
            </a:extLst>
          </p:cNvPr>
          <p:cNvSpPr txBox="1"/>
          <p:nvPr/>
        </p:nvSpPr>
        <p:spPr>
          <a:xfrm>
            <a:off x="1651000" y="5791200"/>
            <a:ext cx="8890000" cy="497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576"/>
              </a:spcAft>
            </a:pPr>
            <a:r>
              <a:rPr lang="zh-CN" altLang="en-US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四道防线一页收束：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32.9 dB</a:t>
            </a:r>
            <a:r>
              <a:rPr lang="en-US" altLang="zh-CN" sz="24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+ 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corr=0.9613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8241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265F69-24E1-A177-5B54-FFB9B70C970E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Acknowledgments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A2CB6B66-38A1-4488-B722-EBB8C80EF6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40EF36F6-465A-E1D5-7C33-ABBC857F6D02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17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Thanks18">
            <a:extLst>
              <a:ext uri="{FF2B5EF4-FFF2-40B4-BE49-F238E27FC236}">
                <a16:creationId xmlns:a16="http://schemas.microsoft.com/office/drawing/2014/main" id="{266E481F-63AA-8FCF-BB99-3FD0CBFE7393}"/>
              </a:ext>
            </a:extLst>
          </p:cNvPr>
          <p:cNvSpPr txBox="1"/>
          <p:nvPr/>
        </p:nvSpPr>
        <p:spPr>
          <a:xfrm>
            <a:off x="2286000" y="2540000"/>
            <a:ext cx="7620000" cy="63171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768"/>
              </a:spcAft>
            </a:pPr>
            <a:r>
              <a:rPr lang="en-US" altLang="zh-CN" sz="32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Thank you for your attention.</a:t>
            </a:r>
            <a:endParaRPr lang="zh-CN" altLang="en-US" sz="32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Note18">
            <a:extLst>
              <a:ext uri="{FF2B5EF4-FFF2-40B4-BE49-F238E27FC236}">
                <a16:creationId xmlns:a16="http://schemas.microsoft.com/office/drawing/2014/main" id="{06DE7D7B-AB84-A1F0-E3EA-2BA96E833321}"/>
              </a:ext>
            </a:extLst>
          </p:cNvPr>
          <p:cNvSpPr txBox="1"/>
          <p:nvPr/>
        </p:nvSpPr>
        <p:spPr>
          <a:xfrm>
            <a:off x="2286000" y="3556000"/>
            <a:ext cx="7620000" cy="3963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432"/>
              </a:spcAft>
            </a:pPr>
            <a:r>
              <a:rPr lang="zh-CN" altLang="en-US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（致谢正文由讲者补充）</a:t>
            </a:r>
          </a:p>
        </p:txBody>
      </p:sp>
    </p:spTree>
    <p:extLst>
      <p:ext uri="{BB962C8B-B14F-4D97-AF65-F5344CB8AC3E}">
        <p14:creationId xmlns:p14="http://schemas.microsoft.com/office/powerpoint/2010/main" val="895082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E7F2EE-A44C-522F-8E41-5AFDBD6DE6FD}"/>
              </a:ext>
            </a:extLst>
          </p:cNvPr>
          <p:cNvSpPr txBox="1"/>
          <p:nvPr/>
        </p:nvSpPr>
        <p:spPr>
          <a:xfrm>
            <a:off x="508000" y="254000"/>
            <a:ext cx="11176000" cy="838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152"/>
              </a:spcAft>
            </a:pPr>
            <a:r>
              <a:rPr lang="en-US" altLang="zh-CN" sz="4800" b="1">
                <a:solidFill>
                  <a:srgbClr val="197084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References</a:t>
            </a:r>
            <a:endParaRPr lang="zh-CN" altLang="en-US" sz="4800" b="1">
              <a:solidFill>
                <a:srgbClr val="197084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" name="FooterBand">
            <a:extLst>
              <a:ext uri="{FF2B5EF4-FFF2-40B4-BE49-F238E27FC236}">
                <a16:creationId xmlns:a16="http://schemas.microsoft.com/office/drawing/2014/main" id="{F0CDE4F4-1EA7-0331-B3A4-5487B9A58F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5" name="PageNo">
            <a:extLst>
              <a:ext uri="{FF2B5EF4-FFF2-40B4-BE49-F238E27FC236}">
                <a16:creationId xmlns:a16="http://schemas.microsoft.com/office/drawing/2014/main" id="{C0D17538-F306-C79E-6F0F-85B00EB81DB0}"/>
              </a:ext>
            </a:extLst>
          </p:cNvPr>
          <p:cNvSpPr txBox="1"/>
          <p:nvPr/>
        </p:nvSpPr>
        <p:spPr>
          <a:xfrm>
            <a:off x="5207000" y="6426200"/>
            <a:ext cx="1778000" cy="38100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480"/>
              </a:spcAft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18 of 19</a:t>
            </a: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" name="Note19">
            <a:extLst>
              <a:ext uri="{FF2B5EF4-FFF2-40B4-BE49-F238E27FC236}">
                <a16:creationId xmlns:a16="http://schemas.microsoft.com/office/drawing/2014/main" id="{184249E1-DB82-A096-C8A3-EA6315705801}"/>
              </a:ext>
            </a:extLst>
          </p:cNvPr>
          <p:cNvSpPr txBox="1"/>
          <p:nvPr/>
        </p:nvSpPr>
        <p:spPr>
          <a:xfrm>
            <a:off x="1524000" y="2667000"/>
            <a:ext cx="9144000" cy="3963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432"/>
              </a:spcAft>
            </a:pPr>
            <a:r>
              <a:rPr lang="zh-CN" altLang="en-US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（文献条目由讲者按 </a:t>
            </a:r>
            <a:r>
              <a:rPr lang="en-US" altLang="zh-CN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IEEE </a:t>
            </a:r>
            <a:r>
              <a:rPr lang="zh-CN" altLang="en-US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格式补充，</a:t>
            </a:r>
            <a:r>
              <a:rPr lang="en-US" altLang="zh-CN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[1] </a:t>
            </a:r>
            <a:r>
              <a:rPr lang="zh-CN" altLang="en-US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起）</a:t>
            </a:r>
          </a:p>
        </p:txBody>
      </p:sp>
    </p:spTree>
    <p:extLst>
      <p:ext uri="{BB962C8B-B14F-4D97-AF65-F5344CB8AC3E}">
        <p14:creationId xmlns:p14="http://schemas.microsoft.com/office/powerpoint/2010/main" val="3673586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Microsoft Office PowerPoint</Application>
  <PresentationFormat>自定义</PresentationFormat>
  <Paragraphs>179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王</dc:creator>
  <cp:lastModifiedBy>磊 王</cp:lastModifiedBy>
  <cp:revision>1</cp:revision>
  <dcterms:created xsi:type="dcterms:W3CDTF">2026-09-17T09:25:54Z</dcterms:created>
  <dcterms:modified xsi:type="dcterms:W3CDTF">2026-09-17T09:25:55Z</dcterms:modified>
</cp:coreProperties>
</file>